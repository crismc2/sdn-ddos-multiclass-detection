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l camino" id="{15f6f2cf-5a91-d4af-11a9-f0601165902d}">
          <p14:sldIdLst>
            <p14:sldId id="256"/>
            <p14:sldId id="257"/>
            <p14:sldId id="258"/>
            <p14:sldId id="259"/>
            <p14:sldId id="260"/>
            <p14:sldId id="261"/>
          </p14:sldIdLst>
        </p14:section>
        <p14:section name="La captura" id="{25c741a7-065f-9992-2a4c-b212647bd18f}">
          <p14:sldIdLst>
            <p14:sldId id="262"/>
            <p14:sldId id="263"/>
            <p14:sldId id="264"/>
            <p14:sldId id="265"/>
          </p14:sldIdLst>
        </p14:section>
        <p14:section name="Los datos" id="{f52a44cc-91b0-a69e-4c85-c1dfba80913d}">
          <p14:sldIdLst>
            <p14:sldId id="266"/>
            <p14:sldId id="267"/>
            <p14:sldId id="268"/>
          </p14:sldIdLst>
        </p14:section>
        <p14:section name="El modelo" id="{5190eaea-2d85-17ef-5946-9c739fcb6cc4}">
          <p14:sldIdLst>
            <p14:sldId id="269"/>
            <p14:sldId id="270"/>
            <p14:sldId id="271"/>
          </p14:sldIdLst>
        </p14:section>
        <p14:section name="Resultados" id="{3a214c0e-a338-f802-077d-8eec0e0f91cb}">
          <p14:sldIdLst>
            <p14:sldId id="272"/>
          </p14:sldIdLst>
        </p14:section>
        <p14:section name="Limitaciones" id="{21431f4f-0a4d-64c0-9561-6cbec478c9d3}">
          <p14:sldIdLst>
            <p14:sldId id="273"/>
          </p14:sldIdLst>
        </p14:section>
        <p14:section name="Propuesta" id="{dc15b724-03a9-b673-98d8-e8d0f037d112}">
          <p14:sldIdLst>
            <p14:sldId id="274"/>
          </p14:sldIdLst>
        </p14:section>
        <p14:section name="Conclusiones" id="{eb6ca441-5a07-6fcd-ab0d-13733b4aebd0}">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diciendo que esta vez no vamos a mostrar el campus: vamos a mostrar cómo se hizo. Seis pasos, con las tablas y los gráficos de la corrida de 120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motivación. No decir que el artículo inicial está mal; decir que resuelve un caso más pequeño. Nuestra pregunta agrega mezcla, reproducibilidad y prueba en otro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Separar hipótesis y alcance. El valor 0,90 se fijó como umbral de trabajo. La corrida de casa da 0,979. El campus todavía no se ha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99,9 por ciento del antecedente no se compara directamente con 0,979. Cambian las clases, la mezcla y la partición. La mejora principal no es un número mayor: es una prueba más reproducible y más exigente.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evita confusiones. La columna izquierda son resultados. La derecha es la propuesta que se presentará al encargado. No prometer un escaneo que todavía no ocurrió.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los seis números. Decir que el resto de la exposición es uno por diapositiva, con lo que salió de la corrida, no con un esquema inventado.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los tres comandos. El tercero es el que entrena. Aclarar que docker stats es la foto del contenedor: no hace falta abrir Docker Desktop para ver el costo, quedó guardado en data/metrics.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gráfico sale de los CSV de docker stats de la corrida. Slowloris promedió 523 por ciento. Los otros escenarios se quedan entre 23 y 50. Sirve para decir que el banco cabe en una PC de 8 núcleos, y que el caso caro es el de conexiones abiertas.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 fila de Slowloris despacio: un solo éxito de 118 intentos, y casi no suben los paquetes. SYN es el que más paquetes mete y la página sigue en 404 milisegundos. La latencia de Slowloris es la del único intento que sí abrió.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sola pasada por el dibujo. Azul alumno, rojo infectado. Agrarias es la de la derecha: esa no se usa para entrenar.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Señalar la barra verde de SYN: por eso después hay que pesar las clases. La franja gris de cada barra es el alumno, que sigue dentro del mismo archivo. En ICMP la franja de ataque casi no se 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Poner un ejemplo oral: 10.1.0.20 es infectada de Salud. En el baseline su flujo es BENIGN. En synflood, el mismo host pasa a synflood. 10.1.0.10, el alumno de al lado, sigue BENIGN en los dos archivos.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de la limpieza. Repetir: el modelo no ve direcciones. Lo que ve son tamaños, ritmos y duraciones del flujo. Si alguien pregunta por qué el F1 es alto, la respuesta empieza aquí: no es porque memorizó las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Escribir en la pizarra, si hace falta, 10.1 a 10.4 entrenan y 10.5 prueba. El peso por clase se llama balanced_subsample. No hace falta el nombre en inglés salvo que pregunten.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ICMP va al final a propósito. El 1,000 con 24 flujos no se dice como logro. Las otras cuatro clases sí se pueden defender: tienen muestras y la página cuenta una historia distinta en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los nombres si el público no los usa. fwd es hacia el portal. El modelo separa por forma del flujo, que es lo que queríamos después de quitar la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 voz alta que esto salió de la corrida en casa, con Docker, no de la red de la UNCP. Es la base con la que se va a proponer el permiso. El 0,979 ya está medido. El escaneo real viene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esconder que falta el campus. Esa es la razón de la propuesta. La limitación principal es el alcance: casa ahora, red autorizada después. ICMP y el clasificador fuera de Ryu se dicen 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solicitud concreta. El encargado entrega tráfico benigno, no recibe ataques. El equipo anonimiza, mezcla offline con los ataques Docker y compara contra el resultado 0,979.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las cuatro frases sin agregar un número nuevo. La uno y la dos son lo que ya se vio en casa. La tres es la cifra de la propuesta. La cuatro es el compromiso: se pide permiso para el fondo real, y el ataque sigue dentro de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leer las referencias completas. Señalar que la primera es el antecedente directo, la segunda sustenta la extracción de flujos y la tercera el contexto SDN.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Agradecer a la facultad y abrir preguntas. Si preguntan cuándo se escanea, la respuesta es: después de que el encargado autorice. Hasta entonces el número que se defiende es el de la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226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4160520"/>
            <a:ext cx="11155680" cy="7772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r>
              <a:rPr lang="en-US" sz="3400" b="1" dirty="0">
                <a:solidFill>
                  <a:srgbClr val="FFFFFF"/>
                </a:solidFill>
                <a:latin typeface="Arial" pitchFamily="34" charset="0"/>
                <a:ea typeface="Arial" pitchFamily="34" charset="-122"/>
                <a:cs typeface="Arial" pitchFamily="34" charset="-120"/>
              </a:rPr>
              <a:t> </a:t>
            </a:r>
            <a:endParaRPr lang="en-US" sz="3400" dirty="0"/>
          </a:p>
        </p:txBody>
      </p:sp>
      <p:sp>
        <p:nvSpPr>
          <p:cNvPr id="3" name="Text 0"/>
          <p:cNvSpPr/>
          <p:nvPr>
            <p:ph idx="101" type="body" hasCustomPrompt="1"/>
          </p:nvPr>
        </p:nvSpPr>
        <p:spPr>
          <a:xfrm>
            <a:off x="502920" y="5074920"/>
            <a:ext cx="9326880" cy="1051560"/>
          </a:xfrm>
          <a:prstGeom prst="rect">
            <a:avLst/>
          </a:prstGeom>
          <a:noFill/>
          <a:ln/>
        </p:spPr>
        <p:txBody>
          <a:bodyPr wrap="square" rtlCol="0"/>
          <a:lstStyle>
            <a:lvl1pPr indent="0" marL="0">
              <a:buNone/>
              <a:defRPr lang="en-US" sz="1800" dirty="0">
                <a:solidFill>
                  <a:srgbClr val="E7F0EA"/>
                </a:solidFill>
                <a:latin typeface="Calibri" pitchFamily="34" charset="0"/>
                <a:ea typeface="Calibri" pitchFamily="34" charset="-122"/>
                <a:cs typeface="Calibri" pitchFamily="34" charset="-120"/>
              </a:defRPr>
            </a:lvl1pPr>
          </a:lstStyle>
          <a:p>
            <a:pPr indent="0" marL="0">
              <a:buNone/>
            </a:pPr>
            <a:r>
              <a:rPr lang="en-US" sz="1800" dirty="0">
                <a:solidFill>
                  <a:srgbClr val="E7F0EA"/>
                </a:solidFill>
                <a:latin typeface="Calibri" pitchFamily="34" charset="0"/>
                <a:ea typeface="Calibri" pitchFamily="34" charset="-122"/>
                <a:cs typeface="Calibri" pitchFamily="34" charset="-120"/>
              </a:rPr>
              <a:t> </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7772400" cy="256032"/>
          </a:xfrm>
          <a:prstGeom prst="rect">
            <a:avLst/>
          </a:prstGeom>
          <a:noFill/>
          <a:ln/>
        </p:spPr>
        <p:txBody>
          <a:bodyPr wrap="square" lIns="0" tIns="0" rIns="0" bIns="0" rtlCol="0" anchor="ctr"/>
          <a:lstStyle/>
          <a:p>
            <a:pPr indent="0" marL="0">
              <a:buNone/>
            </a:pPr>
            <a:r>
              <a:rPr lang="en-US" sz="1200" dirty="0">
                <a:solidFill>
                  <a:srgbClr val="5C6B62"/>
                </a:solidFill>
                <a:latin typeface="Calibri" pitchFamily="34" charset="0"/>
                <a:ea typeface="Calibri" pitchFamily="34" charset="-122"/>
                <a:cs typeface="Calibri" pitchFamily="34" charset="-120"/>
              </a:rPr>
              <a:t>Universidad Nacional del Centro del Perú  |  Facultad de Ingeniería de Sistemas</a:t>
            </a:r>
            <a:endParaRPr lang="en-US" sz="1200" dirty="0"/>
          </a:p>
        </p:txBody>
      </p:sp>
      <p:pic>
        <p:nvPicPr>
          <p:cNvPr id="3" name="Image 0" descr="/Users/alessandro/Project/UNCP/sdn-ddos-multiclass-detection/expo/img/escudo-uncp.png">    </p:cNvPr>
          <p:cNvPicPr>
            <a:picLocks noChangeAspect="1"/>
          </p:cNvPicPr>
          <p:nvPr/>
        </p:nvPicPr>
        <p:blipFill>
          <a:blip r:embed="rId1"/>
          <a:stretch>
            <a:fillRect/>
          </a:stretch>
        </p:blipFill>
        <p:spPr>
          <a:xfrm>
            <a:off x="10927080" y="164592"/>
            <a:ext cx="658368" cy="557784"/>
          </a:xfrm>
          <a:prstGeom prst="rect">
            <a:avLst/>
          </a:prstGeom>
        </p:spPr>
      </p:pic>
      <p:sp>
        <p:nvSpPr>
          <p:cNvPr id="4" name="Text 1"/>
          <p:cNvSpPr/>
          <p:nvPr>
            <p:ph idx="102" type="title" hasCustomPrompt="1"/>
          </p:nvPr>
        </p:nvSpPr>
        <p:spPr>
          <a:xfrm>
            <a:off x="502920" y="274320"/>
            <a:ext cx="10149840" cy="640080"/>
          </a:xfrm>
          <a:prstGeom prst="rect">
            <a:avLst/>
          </a:prstGeom>
          <a:noFill/>
          <a:ln/>
        </p:spPr>
        <p:txBody>
          <a:bodyPr wrap="square" rtlCol="0"/>
          <a:lstStyle>
            <a:lvl1pPr algn="l" indent="0" marL="0">
              <a:buNone/>
              <a:defRPr lang="en-US" sz="2900" b="1" dirty="0">
                <a:solidFill>
                  <a:srgbClr val="135539"/>
                </a:solidFill>
                <a:latin typeface="Arial" pitchFamily="34" charset="0"/>
                <a:ea typeface="Arial" pitchFamily="34" charset="-122"/>
                <a:cs typeface="Arial" pitchFamily="34" charset="-120"/>
              </a:defRPr>
            </a:lvl1pPr>
          </a:lstStyle>
          <a:p>
            <a:pPr algn="l" indent="0" marL="0">
              <a:buNone/>
            </a:pPr>
            <a:r>
              <a:rPr lang="en-US" sz="2900" b="1" dirty="0">
                <a:solidFill>
                  <a:srgbClr val="135539"/>
                </a:solidFill>
                <a:latin typeface="Arial" pitchFamily="34" charset="0"/>
                <a:ea typeface="Arial" pitchFamily="34" charset="-122"/>
                <a:cs typeface="Arial" pitchFamily="34" charset="-120"/>
              </a:rPr>
              <a:t> </a:t>
            </a:r>
            <a:endParaRPr lang="en-US" sz="29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ot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46520" y="640080"/>
            <a:ext cx="5212080" cy="1325880"/>
          </a:xfrm>
          <a:prstGeom prst="rect">
            <a:avLst/>
          </a:prstGeom>
          <a:noFill/>
          <a:ln/>
        </p:spPr>
        <p:txBody>
          <a:bodyPr wrap="square" rtlCol="0"/>
          <a:lstStyle>
            <a:lvl1pPr algn="l" indent="0" marL="0">
              <a:buNone/>
              <a:defRPr lang="en-US" sz="2900" b="1" dirty="0">
                <a:solidFill>
                  <a:srgbClr val="135539"/>
                </a:solidFill>
                <a:latin typeface="Arial" pitchFamily="34" charset="0"/>
                <a:ea typeface="Arial" pitchFamily="34" charset="-122"/>
                <a:cs typeface="Arial" pitchFamily="34" charset="-120"/>
              </a:defRPr>
            </a:lvl1pPr>
          </a:lstStyle>
          <a:p>
            <a:pPr algn="l" indent="0" marL="0">
              <a:buNone/>
            </a:pPr>
            <a:r>
              <a:rPr lang="en-US" sz="2900" b="1" dirty="0">
                <a:solidFill>
                  <a:srgbClr val="135539"/>
                </a:solidFill>
                <a:latin typeface="Arial" pitchFamily="34" charset="0"/>
                <a:ea typeface="Arial" pitchFamily="34" charset="-122"/>
                <a:cs typeface="Arial" pitchFamily="34" charset="-120"/>
              </a:rPr>
              <a:t> </a:t>
            </a:r>
            <a:endParaRPr lang="en-US" sz="2900" dirty="0"/>
          </a:p>
        </p:txBody>
      </p:sp>
      <p:sp>
        <p:nvSpPr>
          <p:cNvPr id="3" name="Text 0"/>
          <p:cNvSpPr/>
          <p:nvPr>
            <p:ph idx="101" type="body" hasCustomPrompt="1"/>
          </p:nvPr>
        </p:nvSpPr>
        <p:spPr>
          <a:xfrm>
            <a:off x="6446520" y="2194560"/>
            <a:ext cx="5212080" cy="3840480"/>
          </a:xfrm>
          <a:prstGeom prst="rect">
            <a:avLst/>
          </a:prstGeom>
          <a:noFill/>
          <a:ln/>
        </p:spPr>
        <p:txBody>
          <a:bodyPr wrap="square" rtlCol="0"/>
          <a:lstStyle>
            <a:lvl1pPr indent="0" marL="0">
              <a:buNone/>
              <a:defRPr lang="en-US" sz="1800" dirty="0">
                <a:solidFill>
                  <a:srgbClr val="12261C"/>
                </a:solidFill>
                <a:latin typeface="Calibri" pitchFamily="34" charset="0"/>
                <a:ea typeface="Calibri" pitchFamily="34" charset="-122"/>
                <a:cs typeface="Calibri" pitchFamily="34" charset="-120"/>
              </a:defRPr>
            </a:lvl1pPr>
          </a:lstStyle>
          <a:p>
            <a:pPr indent="0" marL="0">
              <a:buNone/>
            </a:pPr>
            <a:r>
              <a:rPr lang="en-US" sz="1800" dirty="0">
                <a:solidFill>
                  <a:srgbClr val="12261C"/>
                </a:solidFill>
                <a:latin typeface="Calibri" pitchFamily="34" charset="0"/>
                <a:ea typeface="Calibri" pitchFamily="34" charset="-122"/>
                <a:cs typeface="Calibri" pitchFamily="34" charset="-120"/>
              </a:rPr>
              <a:t> </a:t>
            </a: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ierre">
    <p:bg>
      <p:bgPr>
        <a:solidFill>
          <a:srgbClr val="1226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069080"/>
            <a:ext cx="10972800" cy="777240"/>
          </a:xfrm>
          <a:prstGeom prst="rect">
            <a:avLst/>
          </a:prstGeom>
          <a:noFill/>
          <a:ln/>
        </p:spPr>
        <p:txBody>
          <a:bodyPr wrap="square" rtlCol="0"/>
          <a:lstStyle>
            <a:lvl1pPr algn="l" indent="0" marL="0">
              <a:buNone/>
              <a:defRPr lang="en-US" sz="3200" b="1" dirty="0">
                <a:solidFill>
                  <a:srgbClr val="FFFFFF"/>
                </a:solidFill>
                <a:latin typeface="Arial" pitchFamily="34" charset="0"/>
                <a:ea typeface="Arial" pitchFamily="34" charset="-122"/>
                <a:cs typeface="Arial" pitchFamily="34" charset="-120"/>
              </a:defRPr>
            </a:lvl1pPr>
          </a:lstStyle>
          <a:p>
            <a:pPr algn="l" indent="0" marL="0">
              <a:buNone/>
            </a:pPr>
            <a:r>
              <a:rPr lang="en-US" sz="3200" b="1" dirty="0">
                <a:solidFill>
                  <a:srgbClr val="FFFFFF"/>
                </a:solidFill>
                <a:latin typeface="Arial" pitchFamily="34" charset="0"/>
                <a:ea typeface="Arial" pitchFamily="34" charset="-122"/>
                <a:cs typeface="Arial" pitchFamily="34" charset="-120"/>
              </a:rPr>
              <a:t> </a:t>
            </a:r>
            <a:endParaRPr lang="en-US" sz="3200" dirty="0"/>
          </a:p>
        </p:txBody>
      </p:sp>
      <p:sp>
        <p:nvSpPr>
          <p:cNvPr id="3" name="Text 0"/>
          <p:cNvSpPr/>
          <p:nvPr>
            <p:ph idx="101" type="body" hasCustomPrompt="1"/>
          </p:nvPr>
        </p:nvSpPr>
        <p:spPr>
          <a:xfrm>
            <a:off x="548640" y="4983480"/>
            <a:ext cx="10241280" cy="1097280"/>
          </a:xfrm>
          <a:prstGeom prst="rect">
            <a:avLst/>
          </a:prstGeom>
          <a:noFill/>
          <a:ln/>
        </p:spPr>
        <p:txBody>
          <a:bodyPr wrap="square" rtlCol="0"/>
          <a:lstStyle>
            <a:lvl1pPr indent="0" marL="0">
              <a:buNone/>
              <a:defRPr lang="en-US" sz="1800" dirty="0">
                <a:solidFill>
                  <a:srgbClr val="E7F0EA"/>
                </a:solidFill>
                <a:latin typeface="Calibri" pitchFamily="34" charset="0"/>
                <a:ea typeface="Calibri" pitchFamily="34" charset="-122"/>
                <a:cs typeface="Calibri" pitchFamily="34" charset="-120"/>
              </a:defRPr>
            </a:lvl1pPr>
          </a:lstStyle>
          <a:p>
            <a:pPr indent="0" marL="0">
              <a:buNone/>
            </a:pPr>
            <a:r>
              <a:rPr lang="en-US" sz="1800" dirty="0">
                <a:solidFill>
                  <a:srgbClr val="E7F0EA"/>
                </a:solidFill>
                <a:latin typeface="Calibri" pitchFamily="34" charset="0"/>
                <a:ea typeface="Calibri" pitchFamily="34" charset="-122"/>
                <a:cs typeface="Calibri" pitchFamily="34" charset="-120"/>
              </a:rPr>
              <a:t> </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lessandro/Project/UNCP/sdn-ddos-multiclass-detection/expo/img/escudo-uncp.png">    </p:cNvPr>
          <p:cNvPicPr>
            <a:picLocks noChangeAspect="1"/>
          </p:cNvPicPr>
          <p:nvPr/>
        </p:nvPicPr>
        <p:blipFill>
          <a:blip r:embed="rId1"/>
          <a:stretch>
            <a:fillRect/>
          </a:stretch>
        </p:blipFill>
        <p:spPr>
          <a:xfrm>
            <a:off x="502920" y="411480"/>
            <a:ext cx="868680" cy="740664"/>
          </a:xfrm>
          <a:prstGeom prst="rect">
            <a:avLst/>
          </a:prstGeom>
        </p:spPr>
      </p:pic>
      <p:sp>
        <p:nvSpPr>
          <p:cNvPr id="3" name="Text 0"/>
          <p:cNvSpPr/>
          <p:nvPr>
            <p:ph idx="100" type="title" hasCustomPrompt="1"/>
          </p:nvPr>
        </p:nvSpPr>
        <p:spPr>
          <a:xfrm>
            <a:off x="502920" y="4160520"/>
            <a:ext cx="11155680" cy="777240"/>
          </a:xfrm>
          <a:prstGeom prst="rect">
            <a:avLst/>
          </a:prstGeom>
          <a:noFill/>
          <a:ln/>
        </p:spPr>
        <p:txBody>
          <a:bodyPr wrap="square" lIns="0" tIns="0" rIns="0" bIns="0" rtlCol="0"/>
          <a:lstStyle/>
          <a:p>
            <a:pPr algn="l" indent="0" marL="0">
              <a:buNone/>
            </a:pPr>
            <a:r>
              <a:rPr lang="en-US" sz="3400" b="1" dirty="0">
                <a:solidFill>
                  <a:srgbClr val="FFFFFF"/>
                </a:solidFill>
                <a:latin typeface="Arial" pitchFamily="34" charset="0"/>
                <a:ea typeface="Arial" pitchFamily="34" charset="-122"/>
                <a:cs typeface="Arial" pitchFamily="34" charset="-120"/>
              </a:rPr>
              <a:t>Campus-DDoS-SDN</a:t>
            </a:r>
            <a:endParaRPr lang="en-US" sz="3400" dirty="0"/>
          </a:p>
        </p:txBody>
      </p:sp>
      <p:sp>
        <p:nvSpPr>
          <p:cNvPr id="4" name="Text 0"/>
          <p:cNvSpPr/>
          <p:nvPr>
            <p:ph idx="101" type="body" hasCustomPrompt="1"/>
          </p:nvPr>
        </p:nvSpPr>
        <p:spPr>
          <a:xfrm>
            <a:off x="502920" y="5074920"/>
            <a:ext cx="9326880" cy="1051560"/>
          </a:xfrm>
          <a:prstGeom prst="rect">
            <a:avLst/>
          </a:prstGeom>
          <a:noFill/>
          <a:ln/>
        </p:spPr>
        <p:txBody>
          <a:bodyPr wrap="square" lIns="0" tIns="0" rIns="0" bIns="0" rtlCol="0"/>
          <a:lstStyle/>
          <a:p>
            <a:pPr indent="0" marL="0">
              <a:buNone/>
            </a:pPr>
            <a:r>
              <a:rPr lang="en-US" sz="1800" dirty="0">
                <a:solidFill>
                  <a:srgbClr val="E7F0EA"/>
                </a:solidFill>
                <a:latin typeface="Calibri" pitchFamily="34" charset="0"/>
                <a:ea typeface="Calibri" pitchFamily="34" charset="-122"/>
                <a:cs typeface="Calibri" pitchFamily="34" charset="-120"/>
              </a:rPr>
              <a:t>Diseño y evaluación de un banco de pruebas para detección DDoS multiclase</a:t>
            </a:r>
            <a:endParaRPr lang="en-US" sz="1800" dirty="0"/>
          </a:p>
          <a:p>
            <a:pPr indent="0" marL="0">
              <a:buNone/>
            </a:pPr>
            <a:r>
              <a:rPr lang="en-US" sz="1800" dirty="0">
                <a:solidFill>
                  <a:srgbClr val="E7F0EA"/>
                </a:solidFill>
                <a:latin typeface="Calibri" pitchFamily="34" charset="0"/>
                <a:ea typeface="Calibri" pitchFamily="34" charset="-122"/>
                <a:cs typeface="Calibri" pitchFamily="34" charset="-120"/>
              </a:rPr>
              <a:t>Facultad de Ingeniería de Sistemas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Problema de investigación</a:t>
            </a:r>
            <a:endParaRPr lang="en-US" sz="2900" dirty="0"/>
          </a:p>
        </p:txBody>
      </p:sp>
      <p:sp>
        <p:nvSpPr>
          <p:cNvPr id="3" name="Text 1"/>
          <p:cNvSpPr txBox="1"/>
          <p:nvPr/>
        </p:nvSpPr>
        <p:spPr>
          <a:xfrm>
            <a:off x="502920" y="1188720"/>
            <a:ext cx="11155680" cy="1051560"/>
          </a:xfrm>
          <a:prstGeom prst="rect">
            <a:avLst/>
          </a:prstGeom>
          <a:noFill/>
          <a:ln/>
        </p:spPr>
        <p:txBody>
          <a:bodyPr wrap="square" lIns="0" tIns="0" rIns="0" bIns="0" rtlCol="0" anchor="ctr"/>
          <a:lstStyle/>
          <a:p>
            <a:pPr indent="0" marL="0">
              <a:buNone/>
            </a:pPr>
            <a:r>
              <a:rPr lang="en-US" sz="2300" b="1" dirty="0">
                <a:solidFill>
                  <a:srgbClr val="000000"/>
                </a:solidFill>
                <a:latin typeface="Arial" pitchFamily="34" charset="0"/>
                <a:ea typeface="Arial" pitchFamily="34" charset="-122"/>
                <a:cs typeface="Arial" pitchFamily="34" charset="-120"/>
              </a:rPr>
              <a:t>Un F1 alto con un solo ataque y archivos separados no demuestra que el detector encuentre al atacante mientras el alumno sigue usando el mismo portal.</a:t>
            </a:r>
            <a:endParaRPr lang="en-US" sz="2300" dirty="0"/>
          </a:p>
        </p:txBody>
      </p:sp>
      <p:sp>
        <p:nvSpPr>
          <p:cNvPr id="4" name="Text 2"/>
          <p:cNvSpPr txBox="1"/>
          <p:nvPr/>
        </p:nvSpPr>
        <p:spPr>
          <a:xfrm>
            <a:off x="502920" y="2606040"/>
            <a:ext cx="5212080" cy="41148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Vacíos identificados</a:t>
            </a:r>
            <a:endParaRPr lang="en-US" sz="2000" dirty="0"/>
          </a:p>
        </p:txBody>
      </p:sp>
      <p:sp>
        <p:nvSpPr>
          <p:cNvPr id="5" name="Text 3"/>
          <p:cNvSpPr txBox="1"/>
          <p:nvPr/>
        </p:nvSpPr>
        <p:spPr>
          <a:xfrm>
            <a:off x="502920" y="3154680"/>
            <a:ext cx="5212080" cy="2194560"/>
          </a:xfrm>
          <a:prstGeom prst="rect">
            <a:avLst/>
          </a:prstGeom>
          <a:noFill/>
          <a:ln/>
        </p:spPr>
        <p:txBody>
          <a:bodyPr wrap="square" lIns="0" tIns="0" rIns="0" bIns="0" rtlCol="0" anchor="ctr"/>
          <a:lstStyle/>
          <a:p>
            <a:pPr indent="0" marL="0">
              <a:buNone/>
            </a:pPr>
            <a:r>
              <a:rPr lang="en-US" sz="1900" dirty="0">
                <a:solidFill>
                  <a:srgbClr val="000000"/>
                </a:solidFill>
              </a:rPr>
              <a:t>01  Más de un vector DDoS</a:t>
            </a:r>
            <a:endParaRPr lang="en-US" sz="1900" dirty="0"/>
          </a:p>
          <a:p>
            <a:pPr indent="0" marL="0">
              <a:buNone/>
            </a:pPr>
            <a:r>
              <a:rPr lang="en-US" sz="1900" dirty="0">
                <a:solidFill>
                  <a:srgbClr val="000000"/>
                </a:solidFill>
              </a:rPr>
              <a:t>02  Tráfico benigno dentro del ataque</a:t>
            </a:r>
            <a:endParaRPr lang="en-US" sz="1900" dirty="0"/>
          </a:p>
          <a:p>
            <a:pPr indent="0" marL="0">
              <a:buNone/>
            </a:pPr>
            <a:r>
              <a:rPr lang="en-US" sz="1900" dirty="0">
                <a:solidFill>
                  <a:srgbClr val="000000"/>
                </a:solidFill>
              </a:rPr>
              <a:t>03  Una corrida que pueda repetirse</a:t>
            </a:r>
            <a:endParaRPr lang="en-US" sz="1900" dirty="0"/>
          </a:p>
          <a:p>
            <a:pPr indent="0" marL="0">
              <a:buNone/>
            </a:pPr>
            <a:r>
              <a:rPr lang="en-US" sz="1900" dirty="0">
                <a:solidFill>
                  <a:srgbClr val="000000"/>
                </a:solidFill>
              </a:rPr>
              <a:t>04  Medir si el portal realmente se cae</a:t>
            </a:r>
            <a:endParaRPr lang="en-US" sz="1900" dirty="0"/>
          </a:p>
        </p:txBody>
      </p:sp>
      <p:sp>
        <p:nvSpPr>
          <p:cNvPr id="6" name="Text 4"/>
          <p:cNvSpPr txBox="1"/>
          <p:nvPr/>
        </p:nvSpPr>
        <p:spPr>
          <a:xfrm>
            <a:off x="6400800" y="2606040"/>
            <a:ext cx="5212080" cy="41148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Pregunta de investigación</a:t>
            </a:r>
            <a:endParaRPr lang="en-US" sz="2000" dirty="0"/>
          </a:p>
        </p:txBody>
      </p:sp>
      <p:sp>
        <p:nvSpPr>
          <p:cNvPr id="7" name="Text 5"/>
          <p:cNvSpPr txBox="1"/>
          <p:nvPr/>
        </p:nvSpPr>
        <p:spPr>
          <a:xfrm>
            <a:off x="6400800" y="3154680"/>
            <a:ext cx="5212080" cy="2011680"/>
          </a:xfrm>
          <a:prstGeom prst="rect">
            <a:avLst/>
          </a:prstGeom>
          <a:noFill/>
          <a:ln/>
        </p:spPr>
        <p:txBody>
          <a:bodyPr wrap="square" lIns="0" tIns="0" rIns="0" bIns="0" rtlCol="0" anchor="ctr"/>
          <a:lstStyle/>
          <a:p>
            <a:pPr indent="0" marL="0">
              <a:buNone/>
            </a:pPr>
            <a:r>
              <a:rPr lang="en-US" sz="2100" dirty="0">
                <a:solidFill>
                  <a:srgbClr val="000000"/>
                </a:solidFill>
              </a:rPr>
              <a:t>¿Las estadísticas del flujo, sin IP, puertos ni hora, separan tráfico benigno y cuatro ataques en un laboratorio que el modelo no vio?</a:t>
            </a:r>
            <a:endParaRPr lang="en-US" sz="21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Objetivos e hipótesis</a:t>
            </a:r>
            <a:endParaRPr lang="en-US" sz="2900" dirty="0"/>
          </a:p>
        </p:txBody>
      </p:sp>
      <p:sp>
        <p:nvSpPr>
          <p:cNvPr id="3" name="Text 1"/>
          <p:cNvSpPr txBox="1"/>
          <p:nvPr/>
        </p:nvSpPr>
        <p:spPr>
          <a:xfrm>
            <a:off x="502920" y="1143000"/>
            <a:ext cx="5303520" cy="384048"/>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Objetivo general</a:t>
            </a:r>
            <a:endParaRPr lang="en-US" sz="2000" dirty="0"/>
          </a:p>
        </p:txBody>
      </p:sp>
      <p:sp>
        <p:nvSpPr>
          <p:cNvPr id="4" name="Text 2"/>
          <p:cNvSpPr txBox="1"/>
          <p:nvPr/>
        </p:nvSpPr>
        <p:spPr>
          <a:xfrm>
            <a:off x="502920" y="1645920"/>
            <a:ext cx="5303520" cy="1371600"/>
          </a:xfrm>
          <a:prstGeom prst="rect">
            <a:avLst/>
          </a:prstGeom>
          <a:noFill/>
          <a:ln/>
        </p:spPr>
        <p:txBody>
          <a:bodyPr wrap="square" lIns="0" tIns="0" rIns="0" bIns="0" rtlCol="0" anchor="ctr"/>
          <a:lstStyle/>
          <a:p>
            <a:pPr indent="0" marL="0">
              <a:buNone/>
            </a:pPr>
            <a:r>
              <a:rPr lang="en-US" sz="1900" dirty="0">
                <a:solidFill>
                  <a:srgbClr val="000000"/>
                </a:solidFill>
              </a:rPr>
              <a:t>Implementar y evaluar en Docker un banco SDN reproducible para detectar cuatro ataques contra un portal de campus.</a:t>
            </a:r>
            <a:endParaRPr lang="en-US" sz="1900" dirty="0"/>
          </a:p>
        </p:txBody>
      </p:sp>
      <p:sp>
        <p:nvSpPr>
          <p:cNvPr id="5" name="Text 3"/>
          <p:cNvSpPr txBox="1"/>
          <p:nvPr/>
        </p:nvSpPr>
        <p:spPr>
          <a:xfrm>
            <a:off x="502920" y="3246120"/>
            <a:ext cx="5303520" cy="384048"/>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Objetivos específicos</a:t>
            </a:r>
            <a:endParaRPr lang="en-US" sz="2000" dirty="0"/>
          </a:p>
        </p:txBody>
      </p:sp>
      <p:sp>
        <p:nvSpPr>
          <p:cNvPr id="6" name="Text 4"/>
          <p:cNvSpPr txBox="1"/>
          <p:nvPr/>
        </p:nvSpPr>
        <p:spPr>
          <a:xfrm>
            <a:off x="502920" y="3749040"/>
            <a:ext cx="5303520" cy="1554480"/>
          </a:xfrm>
          <a:prstGeom prst="rect">
            <a:avLst/>
          </a:prstGeom>
          <a:noFill/>
          <a:ln/>
        </p:spPr>
        <p:txBody>
          <a:bodyPr wrap="square" lIns="0" tIns="0" rIns="0" bIns="0" rtlCol="0" anchor="ctr"/>
          <a:lstStyle/>
          <a:p>
            <a:pPr indent="0" marL="0">
              <a:buNone/>
            </a:pPr>
            <a:r>
              <a:rPr lang="en-US" sz="1900" dirty="0">
                <a:solidFill>
                  <a:srgbClr val="000000"/>
                </a:solidFill>
              </a:rPr>
              <a:t>Modelar la red · capturar tráfico mixto · etiquetar por emisor · medir el portal y Docker · probar fuera del entrenamiento.</a:t>
            </a:r>
            <a:endParaRPr lang="en-US" sz="1900" dirty="0"/>
          </a:p>
        </p:txBody>
      </p:sp>
      <p:sp>
        <p:nvSpPr>
          <p:cNvPr id="7" name="Text 5"/>
          <p:cNvSpPr txBox="1"/>
          <p:nvPr/>
        </p:nvSpPr>
        <p:spPr>
          <a:xfrm>
            <a:off x="6400800" y="1143000"/>
            <a:ext cx="5212080" cy="384048"/>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Hipótesis de trabajo</a:t>
            </a:r>
            <a:endParaRPr lang="en-US" sz="2000" dirty="0"/>
          </a:p>
        </p:txBody>
      </p:sp>
      <p:sp>
        <p:nvSpPr>
          <p:cNvPr id="8" name="Text 6"/>
          <p:cNvSpPr txBox="1"/>
          <p:nvPr/>
        </p:nvSpPr>
        <p:spPr>
          <a:xfrm>
            <a:off x="6400800" y="1645920"/>
            <a:ext cx="5212080" cy="1554480"/>
          </a:xfrm>
          <a:prstGeom prst="rect">
            <a:avLst/>
          </a:prstGeom>
          <a:noFill/>
          <a:ln/>
        </p:spPr>
        <p:txBody>
          <a:bodyPr wrap="square" lIns="0" tIns="0" rIns="0" bIns="0" rtlCol="0" anchor="ctr"/>
          <a:lstStyle/>
          <a:p>
            <a:pPr indent="0" marL="0">
              <a:buNone/>
            </a:pPr>
            <a:r>
              <a:rPr lang="en-US" sz="2200" b="1" dirty="0">
                <a:solidFill>
                  <a:srgbClr val="000000"/>
                </a:solidFill>
                <a:latin typeface="Arial" pitchFamily="34" charset="0"/>
                <a:ea typeface="Arial" pitchFamily="34" charset="-122"/>
                <a:cs typeface="Arial" pitchFamily="34" charset="-120"/>
              </a:rPr>
              <a:t>Las características de tamaño, duración y tasa del flujo permiten superar 0,90 de F1 macro en el laboratorio retenido.</a:t>
            </a:r>
            <a:endParaRPr lang="en-US" sz="2200" dirty="0"/>
          </a:p>
        </p:txBody>
      </p:sp>
      <p:sp>
        <p:nvSpPr>
          <p:cNvPr id="9" name="Text 7"/>
          <p:cNvSpPr txBox="1"/>
          <p:nvPr/>
        </p:nvSpPr>
        <p:spPr>
          <a:xfrm>
            <a:off x="6400800" y="3657600"/>
            <a:ext cx="5212080" cy="384048"/>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Alcance</a:t>
            </a:r>
            <a:endParaRPr lang="en-US" sz="2000" dirty="0"/>
          </a:p>
        </p:txBody>
      </p:sp>
      <p:sp>
        <p:nvSpPr>
          <p:cNvPr id="10" name="Text 8"/>
          <p:cNvSpPr txBox="1"/>
          <p:nvPr/>
        </p:nvSpPr>
        <p:spPr>
          <a:xfrm>
            <a:off x="6400800" y="4160520"/>
            <a:ext cx="5212080" cy="1280160"/>
          </a:xfrm>
          <a:prstGeom prst="rect">
            <a:avLst/>
          </a:prstGeom>
          <a:noFill/>
          <a:ln/>
        </p:spPr>
        <p:txBody>
          <a:bodyPr wrap="square" lIns="0" tIns="0" rIns="0" bIns="0" rtlCol="0" anchor="ctr"/>
          <a:lstStyle/>
          <a:p>
            <a:pPr indent="0" marL="0">
              <a:buNone/>
            </a:pPr>
            <a:r>
              <a:rPr lang="en-US" sz="1900" dirty="0">
                <a:solidFill>
                  <a:srgbClr val="000000"/>
                </a:solidFill>
              </a:rPr>
              <a:t>Primero se contrasta en casa. La captura real de la UNCP es la fase propuesta y requiere autorización.</a:t>
            </a:r>
            <a:endParaRPr lang="en-US" sz="19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Del artículo inicial a esta propuesta</a:t>
            </a:r>
            <a:endParaRPr lang="en-US" sz="2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55680" cy="4709160"/>
        </p:xfrm>
        <a:graphic>
          <a:graphicData uri="http://schemas.openxmlformats.org/drawingml/2006/table">
            <a:tbl>
              <a:tblPr/>
              <a:tblGrid>
                <a:gridCol w="5212080"/>
                <a:gridCol w="5943600"/>
              </a:tblGrid>
              <a:tr h="694944">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ICMP-Flood-SDN</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Campus-DDoS-SDN</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r>
              <a:tr h="694944">
                <a:tc>
                  <a:txBody>
                    <a:bodyPr/>
                    <a:lstStyle/>
                    <a:p>
                      <a:pPr algn="l" indent="0" marL="0">
                        <a:buNone/>
                      </a:pPr>
                      <a:r>
                        <a:rPr lang="en-US" sz="1600" dirty="0">
                          <a:solidFill>
                            <a:srgbClr val="3E5C4C"/>
                          </a:solidFill>
                          <a:latin typeface="Calibri" pitchFamily="34" charset="0"/>
                          <a:ea typeface="Calibri" pitchFamily="34" charset="-122"/>
                          <a:cs typeface="Calibri" pitchFamily="34" charset="-120"/>
                        </a:rPr>
                        <a:t>Un ataque: ICMP</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SYN, HTTP, Slowloris e ICMP</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0EA"/>
                    </a:solidFill>
                  </a:tcPr>
                </a:tc>
              </a:tr>
              <a:tr h="694944">
                <a:tc>
                  <a:txBody>
                    <a:bodyPr/>
                    <a:lstStyle/>
                    <a:p>
                      <a:pPr algn="l" indent="0" marL="0">
                        <a:buNone/>
                      </a:pPr>
                      <a:r>
                        <a:rPr lang="en-US" sz="1600" dirty="0">
                          <a:solidFill>
                            <a:srgbClr val="3E5C4C"/>
                          </a:solidFill>
                          <a:latin typeface="Calibri" pitchFamily="34" charset="0"/>
                          <a:ea typeface="Calibri" pitchFamily="34" charset="-122"/>
                          <a:cs typeface="Calibri" pitchFamily="34" charset="-120"/>
                        </a:rPr>
                        <a:t>Navegación real, depende de internet</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Portal interno, corrida repetible</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0EA"/>
                    </a:solidFill>
                  </a:tcPr>
                </a:tc>
              </a:tr>
              <a:tr h="694944">
                <a:tc>
                  <a:txBody>
                    <a:bodyPr/>
                    <a:lstStyle/>
                    <a:p>
                      <a:pPr algn="l" indent="0" marL="0">
                        <a:buNone/>
                      </a:pPr>
                      <a:r>
                        <a:rPr lang="en-US" sz="1600" dirty="0">
                          <a:solidFill>
                            <a:srgbClr val="3E5C4C"/>
                          </a:solidFill>
                          <a:latin typeface="Calibri" pitchFamily="34" charset="0"/>
                          <a:ea typeface="Calibri" pitchFamily="34" charset="-122"/>
                          <a:cs typeface="Calibri" pitchFamily="34" charset="-120"/>
                        </a:rPr>
                        <a:t>Capturas benignas y de ataque separadas</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Alumno y atacante dentro del mismo pcap</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0EA"/>
                    </a:solidFill>
                  </a:tcPr>
                </a:tc>
              </a:tr>
              <a:tr h="694944">
                <a:tc>
                  <a:txBody>
                    <a:bodyPr/>
                    <a:lstStyle/>
                    <a:p>
                      <a:pPr algn="l" indent="0" marL="0">
                        <a:buNone/>
                      </a:pPr>
                      <a:r>
                        <a:rPr lang="en-US" sz="1600" dirty="0">
                          <a:solidFill>
                            <a:srgbClr val="3E5C4C"/>
                          </a:solidFill>
                          <a:latin typeface="Calibri" pitchFamily="34" charset="0"/>
                          <a:ea typeface="Calibri" pitchFamily="34" charset="-122"/>
                          <a:cs typeface="Calibri" pitchFamily="34" charset="-120"/>
                        </a:rPr>
                        <a:t>Evaluación del clasificador</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Clasificador + sonda HTTP + recursos Docker</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0EA"/>
                    </a:solidFill>
                  </a:tcPr>
                </a:tc>
              </a:tr>
              <a:tr h="694944">
                <a:tc>
                  <a:txBody>
                    <a:bodyPr/>
                    <a:lstStyle/>
                    <a:p>
                      <a:pPr algn="l" indent="0" marL="0">
                        <a:buNone/>
                      </a:pPr>
                      <a:r>
                        <a:rPr lang="en-US" sz="1600" dirty="0">
                          <a:solidFill>
                            <a:srgbClr val="3E5C4C"/>
                          </a:solidFill>
                          <a:latin typeface="Calibri" pitchFamily="34" charset="0"/>
                          <a:ea typeface="Calibri" pitchFamily="34" charset="-122"/>
                          <a:cs typeface="Calibri" pitchFamily="34" charset="-120"/>
                        </a:rPr>
                        <a:t>≈99,9 % en su conjunto</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0,979 F1 macro en un laboratorio retenido</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0EA"/>
                    </a:solidFill>
                  </a:tcPr>
                </a:tc>
              </a:tr>
            </a:tbl>
          </a:graphicData>
        </a:graphic>
      </p:graphicFrame>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Qué está hecho y qué se propone</a:t>
            </a:r>
            <a:endParaRPr lang="en-US" sz="2900" dirty="0"/>
          </a:p>
        </p:txBody>
      </p:sp>
      <p:sp>
        <p:nvSpPr>
          <p:cNvPr id="3" name="Text 1"/>
          <p:cNvSpPr txBox="1"/>
          <p:nvPr/>
        </p:nvSpPr>
        <p:spPr>
          <a:xfrm>
            <a:off x="502920" y="1234440"/>
            <a:ext cx="5303520" cy="45720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TRABAJO REALIZADO</a:t>
            </a:r>
            <a:endParaRPr lang="en-US" sz="2000" dirty="0"/>
          </a:p>
        </p:txBody>
      </p:sp>
      <p:sp>
        <p:nvSpPr>
          <p:cNvPr id="4" name="Text 2"/>
          <p:cNvSpPr txBox="1"/>
          <p:nvPr/>
        </p:nvSpPr>
        <p:spPr>
          <a:xfrm>
            <a:off x="502920" y="1828800"/>
            <a:ext cx="5303520" cy="2926080"/>
          </a:xfrm>
          <a:prstGeom prst="rect">
            <a:avLst/>
          </a:prstGeom>
          <a:noFill/>
          <a:ln/>
        </p:spPr>
        <p:txBody>
          <a:bodyPr wrap="square" lIns="0" tIns="0" rIns="0" bIns="0" rtlCol="0" anchor="ctr"/>
          <a:lstStyle/>
          <a:p>
            <a:pPr indent="0" marL="0">
              <a:buNone/>
            </a:pPr>
            <a:r>
              <a:rPr lang="en-US" sz="2100" dirty="0">
                <a:solidFill>
                  <a:srgbClr val="000000"/>
                </a:solidFill>
              </a:rPr>
              <a:t>Topología Docker</a:t>
            </a:r>
            <a:endParaRPr lang="en-US" sz="2100" dirty="0"/>
          </a:p>
          <a:p>
            <a:pPr indent="0" marL="0">
              <a:buNone/>
            </a:pPr>
            <a:r>
              <a:rPr lang="en-US" sz="2100" dirty="0">
                <a:solidFill>
                  <a:srgbClr val="000000"/>
                </a:solidFill>
              </a:rPr>
              <a:t>Cinco escenarios de 120 s</a:t>
            </a:r>
            <a:endParaRPr lang="en-US" sz="2100" dirty="0"/>
          </a:p>
          <a:p>
            <a:pPr indent="0" marL="0">
              <a:buNone/>
            </a:pPr>
            <a:r>
              <a:rPr lang="en-US" sz="2100" dirty="0">
                <a:solidFill>
                  <a:srgbClr val="000000"/>
                </a:solidFill>
              </a:rPr>
              <a:t>40.877 flujos etiquetados</a:t>
            </a:r>
            <a:endParaRPr lang="en-US" sz="2100" dirty="0"/>
          </a:p>
          <a:p>
            <a:pPr indent="0" marL="0">
              <a:buNone/>
            </a:pPr>
            <a:r>
              <a:rPr lang="en-US" sz="2100" dirty="0">
                <a:solidFill>
                  <a:srgbClr val="000000"/>
                </a:solidFill>
              </a:rPr>
              <a:t>Bosque probado en Agrarias</a:t>
            </a:r>
            <a:endParaRPr lang="en-US" sz="2100" dirty="0"/>
          </a:p>
          <a:p>
            <a:pPr indent="0" marL="0">
              <a:buNone/>
            </a:pPr>
            <a:r>
              <a:rPr lang="en-US" sz="2100" dirty="0">
                <a:solidFill>
                  <a:srgbClr val="000000"/>
                </a:solidFill>
              </a:rPr>
              <a:t>F1 macro 0,979</a:t>
            </a:r>
            <a:endParaRPr lang="en-US" sz="2100" dirty="0"/>
          </a:p>
        </p:txBody>
      </p:sp>
      <p:sp>
        <p:nvSpPr>
          <p:cNvPr id="5" name="Text 3"/>
          <p:cNvSpPr txBox="1"/>
          <p:nvPr/>
        </p:nvSpPr>
        <p:spPr>
          <a:xfrm>
            <a:off x="6400800" y="1234440"/>
            <a:ext cx="5212080" cy="457200"/>
          </a:xfrm>
          <a:prstGeom prst="rect">
            <a:avLst/>
          </a:prstGeom>
          <a:noFill/>
          <a:ln/>
        </p:spPr>
        <p:txBody>
          <a:bodyPr wrap="square" lIns="0" tIns="0" rIns="0" bIns="0" rtlCol="0" anchor="ctr"/>
          <a:lstStyle/>
          <a:p>
            <a:pPr indent="0" marL="0">
              <a:buNone/>
            </a:pPr>
            <a:r>
              <a:rPr lang="en-US" sz="2000" b="1" dirty="0">
                <a:solidFill>
                  <a:srgbClr val="8C2F2F"/>
                </a:solidFill>
                <a:latin typeface="Arial" pitchFamily="34" charset="0"/>
                <a:ea typeface="Arial" pitchFamily="34" charset="-122"/>
                <a:cs typeface="Arial" pitchFamily="34" charset="-120"/>
              </a:rPr>
              <a:t>FASE PROPUESTA</a:t>
            </a:r>
            <a:endParaRPr lang="en-US" sz="2000" dirty="0"/>
          </a:p>
        </p:txBody>
      </p:sp>
      <p:sp>
        <p:nvSpPr>
          <p:cNvPr id="6" name="Text 4"/>
          <p:cNvSpPr txBox="1"/>
          <p:nvPr/>
        </p:nvSpPr>
        <p:spPr>
          <a:xfrm>
            <a:off x="6400800" y="1828800"/>
            <a:ext cx="5212080" cy="2926080"/>
          </a:xfrm>
          <a:prstGeom prst="rect">
            <a:avLst/>
          </a:prstGeom>
          <a:noFill/>
          <a:ln/>
        </p:spPr>
        <p:txBody>
          <a:bodyPr wrap="square" lIns="0" tIns="0" rIns="0" bIns="0" rtlCol="0" anchor="ctr"/>
          <a:lstStyle/>
          <a:p>
            <a:pPr indent="0" marL="0">
              <a:buNone/>
            </a:pPr>
            <a:r>
              <a:rPr lang="en-US" sz="2100" dirty="0">
                <a:solidFill>
                  <a:srgbClr val="000000"/>
                </a:solidFill>
              </a:rPr>
              <a:t>Captura Wireshark autorizada</a:t>
            </a:r>
            <a:endParaRPr lang="en-US" sz="2100" dirty="0"/>
          </a:p>
          <a:p>
            <a:pPr indent="0" marL="0">
              <a:buNone/>
            </a:pPr>
            <a:r>
              <a:rPr lang="en-US" sz="2100" dirty="0">
                <a:solidFill>
                  <a:srgbClr val="000000"/>
                </a:solidFill>
              </a:rPr>
              <a:t>Solo tráfico benigno real</a:t>
            </a:r>
            <a:endParaRPr lang="en-US" sz="2100" dirty="0"/>
          </a:p>
          <a:p>
            <a:pPr indent="0" marL="0">
              <a:buNone/>
            </a:pPr>
            <a:r>
              <a:rPr lang="en-US" sz="2100" dirty="0">
                <a:solidFill>
                  <a:srgbClr val="000000"/>
                </a:solidFill>
              </a:rPr>
              <a:t>Anonimización de direcciones</a:t>
            </a:r>
            <a:endParaRPr lang="en-US" sz="2100" dirty="0"/>
          </a:p>
          <a:p>
            <a:pPr indent="0" marL="0">
              <a:buNone/>
            </a:pPr>
            <a:r>
              <a:rPr lang="en-US" sz="2100" dirty="0">
                <a:solidFill>
                  <a:srgbClr val="000000"/>
                </a:solidFill>
              </a:rPr>
              <a:t>Dataset híbrido</a:t>
            </a:r>
            <a:endParaRPr lang="en-US" sz="2100" dirty="0"/>
          </a:p>
          <a:p>
            <a:pPr indent="0" marL="0">
              <a:buNone/>
            </a:pPr>
            <a:r>
              <a:rPr lang="en-US" sz="2100" dirty="0">
                <a:solidFill>
                  <a:srgbClr val="000000"/>
                </a:solidFill>
              </a:rPr>
              <a:t>Comparación casa vs campus</a:t>
            </a:r>
            <a:endParaRPr lang="en-US" sz="2100" dirty="0"/>
          </a:p>
        </p:txBody>
      </p:sp>
      <p:sp>
        <p:nvSpPr>
          <p:cNvPr id="7" name="Text 5"/>
          <p:cNvSpPr txBox="1"/>
          <p:nvPr/>
        </p:nvSpPr>
        <p:spPr>
          <a:xfrm>
            <a:off x="502920" y="5257800"/>
            <a:ext cx="11155680" cy="502920"/>
          </a:xfrm>
          <a:prstGeom prst="rect">
            <a:avLst/>
          </a:prstGeom>
          <a:noFill/>
          <a:ln/>
        </p:spPr>
        <p:txBody>
          <a:bodyPr wrap="square" lIns="0" tIns="0" rIns="0" bIns="0" rtlCol="0" anchor="ctr"/>
          <a:lstStyle/>
          <a:p>
            <a:pPr algn="ctr" indent="0" marL="0">
              <a:buNone/>
            </a:pPr>
            <a:r>
              <a:rPr lang="en-US" sz="1800" b="1" dirty="0">
                <a:solidFill>
                  <a:srgbClr val="8C2F2F"/>
                </a:solidFill>
              </a:rPr>
              <a:t>Los ataques permanecen dentro de Docker. No se atacará la red de la UNCP.</a:t>
            </a:r>
            <a:endParaRPr lang="en-US" sz="18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Metodología general</a:t>
            </a:r>
            <a:endParaRPr lang="en-US" sz="2900" dirty="0"/>
          </a:p>
        </p:txBody>
      </p:sp>
      <p:sp>
        <p:nvSpPr>
          <p:cNvPr id="3" name="Text 1"/>
          <p:cNvSpPr txBox="1"/>
          <p:nvPr/>
        </p:nvSpPr>
        <p:spPr>
          <a:xfrm>
            <a:off x="502920" y="1234440"/>
            <a:ext cx="640080" cy="502920"/>
          </a:xfrm>
          <a:prstGeom prst="rect">
            <a:avLst/>
          </a:prstGeom>
          <a:noFill/>
          <a:ln/>
        </p:spPr>
        <p:txBody>
          <a:bodyPr wrap="square" lIns="0" tIns="0" rIns="0" bIns="0" rtlCol="0" anchor="ctr"/>
          <a:lstStyle/>
          <a:p>
            <a:pPr indent="0" marL="0">
              <a:buNone/>
            </a:pPr>
            <a:r>
              <a:rPr lang="en-US" sz="2500" b="1" dirty="0">
                <a:solidFill>
                  <a:schemeClr val="accent1"/>
                </a:solidFill>
                <a:latin typeface="Arial" pitchFamily="34" charset="0"/>
                <a:ea typeface="Arial" pitchFamily="34" charset="-122"/>
                <a:cs typeface="Arial" pitchFamily="34" charset="-120"/>
              </a:rPr>
              <a:t>1</a:t>
            </a:r>
            <a:endParaRPr lang="en-US" sz="2500" dirty="0"/>
          </a:p>
        </p:txBody>
      </p:sp>
      <p:sp>
        <p:nvSpPr>
          <p:cNvPr id="4" name="Text 2"/>
          <p:cNvSpPr txBox="1"/>
          <p:nvPr/>
        </p:nvSpPr>
        <p:spPr>
          <a:xfrm>
            <a:off x="1280160" y="1234440"/>
            <a:ext cx="4663440"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Docker</a:t>
            </a:r>
            <a:endParaRPr lang="en-US" sz="2000" dirty="0"/>
          </a:p>
        </p:txBody>
      </p:sp>
      <p:sp>
        <p:nvSpPr>
          <p:cNvPr id="5" name="Text 3"/>
          <p:cNvSpPr txBox="1"/>
          <p:nvPr/>
        </p:nvSpPr>
        <p:spPr>
          <a:xfrm>
            <a:off x="1280160" y="1691640"/>
            <a:ext cx="4663440" cy="777240"/>
          </a:xfrm>
          <a:prstGeom prst="rect">
            <a:avLst/>
          </a:prstGeom>
          <a:noFill/>
          <a:ln/>
        </p:spPr>
        <p:txBody>
          <a:bodyPr wrap="square" lIns="0" tIns="0" rIns="0" bIns="0" rtlCol="0" anchor="ctr"/>
          <a:lstStyle/>
          <a:p>
            <a:pPr indent="0" marL="0">
              <a:buNone/>
            </a:pPr>
            <a:r>
              <a:rPr lang="en-US" sz="1600" dirty="0">
                <a:solidFill>
                  <a:srgbClr val="3E5C4C"/>
                </a:solidFill>
              </a:rPr>
              <a:t>Un comando levanta la red, el ataque y la captura.</a:t>
            </a:r>
            <a:endParaRPr lang="en-US" sz="1600" dirty="0"/>
          </a:p>
        </p:txBody>
      </p:sp>
      <p:sp>
        <p:nvSpPr>
          <p:cNvPr id="6" name="Text 4"/>
          <p:cNvSpPr txBox="1"/>
          <p:nvPr/>
        </p:nvSpPr>
        <p:spPr>
          <a:xfrm>
            <a:off x="502920" y="2834640"/>
            <a:ext cx="640080" cy="502920"/>
          </a:xfrm>
          <a:prstGeom prst="rect">
            <a:avLst/>
          </a:prstGeom>
          <a:noFill/>
          <a:ln/>
        </p:spPr>
        <p:txBody>
          <a:bodyPr wrap="square" lIns="0" tIns="0" rIns="0" bIns="0" rtlCol="0" anchor="ctr"/>
          <a:lstStyle/>
          <a:p>
            <a:pPr indent="0" marL="0">
              <a:buNone/>
            </a:pPr>
            <a:r>
              <a:rPr lang="en-US" sz="2500" b="1" dirty="0">
                <a:solidFill>
                  <a:schemeClr val="accent1"/>
                </a:solidFill>
                <a:latin typeface="Arial" pitchFamily="34" charset="0"/>
                <a:ea typeface="Arial" pitchFamily="34" charset="-122"/>
                <a:cs typeface="Arial" pitchFamily="34" charset="-120"/>
              </a:rPr>
              <a:t>2</a:t>
            </a:r>
            <a:endParaRPr lang="en-US" sz="2500" dirty="0"/>
          </a:p>
        </p:txBody>
      </p:sp>
      <p:sp>
        <p:nvSpPr>
          <p:cNvPr id="7" name="Text 5"/>
          <p:cNvSpPr txBox="1"/>
          <p:nvPr/>
        </p:nvSpPr>
        <p:spPr>
          <a:xfrm>
            <a:off x="1280160" y="2834640"/>
            <a:ext cx="4663440"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Sonda</a:t>
            </a:r>
            <a:endParaRPr lang="en-US" sz="2000" dirty="0"/>
          </a:p>
        </p:txBody>
      </p:sp>
      <p:sp>
        <p:nvSpPr>
          <p:cNvPr id="8" name="Text 6"/>
          <p:cNvSpPr txBox="1"/>
          <p:nvPr/>
        </p:nvSpPr>
        <p:spPr>
          <a:xfrm>
            <a:off x="1280160" y="3291840"/>
            <a:ext cx="4663440" cy="777240"/>
          </a:xfrm>
          <a:prstGeom prst="rect">
            <a:avLst/>
          </a:prstGeom>
          <a:noFill/>
          <a:ln/>
        </p:spPr>
        <p:txBody>
          <a:bodyPr wrap="square" lIns="0" tIns="0" rIns="0" bIns="0" rtlCol="0" anchor="ctr"/>
          <a:lstStyle/>
          <a:p>
            <a:pPr indent="0" marL="0">
              <a:buNone/>
            </a:pPr>
            <a:r>
              <a:rPr lang="en-US" sz="1600" dirty="0">
                <a:solidFill>
                  <a:srgbClr val="3E5C4C"/>
                </a:solidFill>
              </a:rPr>
              <a:t>Cada segundo se anota si el portal abre y cuánto tarda.</a:t>
            </a:r>
            <a:endParaRPr lang="en-US" sz="1600" dirty="0"/>
          </a:p>
        </p:txBody>
      </p:sp>
      <p:sp>
        <p:nvSpPr>
          <p:cNvPr id="9" name="Text 7"/>
          <p:cNvSpPr txBox="1"/>
          <p:nvPr/>
        </p:nvSpPr>
        <p:spPr>
          <a:xfrm>
            <a:off x="502920" y="4434840"/>
            <a:ext cx="640080" cy="502920"/>
          </a:xfrm>
          <a:prstGeom prst="rect">
            <a:avLst/>
          </a:prstGeom>
          <a:noFill/>
          <a:ln/>
        </p:spPr>
        <p:txBody>
          <a:bodyPr wrap="square" lIns="0" tIns="0" rIns="0" bIns="0" rtlCol="0" anchor="ctr"/>
          <a:lstStyle/>
          <a:p>
            <a:pPr indent="0" marL="0">
              <a:buNone/>
            </a:pPr>
            <a:r>
              <a:rPr lang="en-US" sz="2500" b="1" dirty="0">
                <a:solidFill>
                  <a:schemeClr val="accent1"/>
                </a:solidFill>
                <a:latin typeface="Arial" pitchFamily="34" charset="0"/>
                <a:ea typeface="Arial" pitchFamily="34" charset="-122"/>
                <a:cs typeface="Arial" pitchFamily="34" charset="-120"/>
              </a:rPr>
              <a:t>3</a:t>
            </a:r>
            <a:endParaRPr lang="en-US" sz="2500" dirty="0"/>
          </a:p>
        </p:txBody>
      </p:sp>
      <p:sp>
        <p:nvSpPr>
          <p:cNvPr id="10" name="Text 8"/>
          <p:cNvSpPr txBox="1"/>
          <p:nvPr/>
        </p:nvSpPr>
        <p:spPr>
          <a:xfrm>
            <a:off x="1280160" y="4434840"/>
            <a:ext cx="4663440"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Flujos</a:t>
            </a:r>
            <a:endParaRPr lang="en-US" sz="2000" dirty="0"/>
          </a:p>
        </p:txBody>
      </p:sp>
      <p:sp>
        <p:nvSpPr>
          <p:cNvPr id="11" name="Text 9"/>
          <p:cNvSpPr txBox="1"/>
          <p:nvPr/>
        </p:nvSpPr>
        <p:spPr>
          <a:xfrm>
            <a:off x="1280160" y="4892040"/>
            <a:ext cx="4663440" cy="777240"/>
          </a:xfrm>
          <a:prstGeom prst="rect">
            <a:avLst/>
          </a:prstGeom>
          <a:noFill/>
          <a:ln/>
        </p:spPr>
        <p:txBody>
          <a:bodyPr wrap="square" lIns="0" tIns="0" rIns="0" bIns="0" rtlCol="0" anchor="ctr"/>
          <a:lstStyle/>
          <a:p>
            <a:pPr indent="0" marL="0">
              <a:buNone/>
            </a:pPr>
            <a:r>
              <a:rPr lang="en-US" sz="1600" dirty="0">
                <a:solidFill>
                  <a:srgbClr val="3E5C4C"/>
                </a:solidFill>
              </a:rPr>
              <a:t>El pcap se vuelve CSV. TCP con CICFlowMeter, ICMP aparte.</a:t>
            </a:r>
            <a:endParaRPr lang="en-US" sz="1600" dirty="0"/>
          </a:p>
        </p:txBody>
      </p:sp>
      <p:sp>
        <p:nvSpPr>
          <p:cNvPr id="12" name="Text 10"/>
          <p:cNvSpPr txBox="1"/>
          <p:nvPr/>
        </p:nvSpPr>
        <p:spPr>
          <a:xfrm>
            <a:off x="6309360" y="1234440"/>
            <a:ext cx="640080" cy="502920"/>
          </a:xfrm>
          <a:prstGeom prst="rect">
            <a:avLst/>
          </a:prstGeom>
          <a:noFill/>
          <a:ln/>
        </p:spPr>
        <p:txBody>
          <a:bodyPr wrap="square" lIns="0" tIns="0" rIns="0" bIns="0" rtlCol="0" anchor="ctr"/>
          <a:lstStyle/>
          <a:p>
            <a:pPr indent="0" marL="0">
              <a:buNone/>
            </a:pPr>
            <a:r>
              <a:rPr lang="en-US" sz="2500" b="1" dirty="0">
                <a:solidFill>
                  <a:schemeClr val="accent1"/>
                </a:solidFill>
                <a:latin typeface="Arial" pitchFamily="34" charset="0"/>
                <a:ea typeface="Arial" pitchFamily="34" charset="-122"/>
                <a:cs typeface="Arial" pitchFamily="34" charset="-120"/>
              </a:rPr>
              <a:t>4</a:t>
            </a:r>
            <a:endParaRPr lang="en-US" sz="2500" dirty="0"/>
          </a:p>
        </p:txBody>
      </p:sp>
      <p:sp>
        <p:nvSpPr>
          <p:cNvPr id="13" name="Text 11"/>
          <p:cNvSpPr txBox="1"/>
          <p:nvPr/>
        </p:nvSpPr>
        <p:spPr>
          <a:xfrm>
            <a:off x="7086600" y="1234440"/>
            <a:ext cx="4663440"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Etiqueta</a:t>
            </a:r>
            <a:endParaRPr lang="en-US" sz="2000" dirty="0"/>
          </a:p>
        </p:txBody>
      </p:sp>
      <p:sp>
        <p:nvSpPr>
          <p:cNvPr id="14" name="Text 12"/>
          <p:cNvSpPr txBox="1"/>
          <p:nvPr/>
        </p:nvSpPr>
        <p:spPr>
          <a:xfrm>
            <a:off x="7086600" y="1691640"/>
            <a:ext cx="4663440" cy="777240"/>
          </a:xfrm>
          <a:prstGeom prst="rect">
            <a:avLst/>
          </a:prstGeom>
          <a:noFill/>
          <a:ln/>
        </p:spPr>
        <p:txBody>
          <a:bodyPr wrap="square" lIns="0" tIns="0" rIns="0" bIns="0" rtlCol="0" anchor="ctr"/>
          <a:lstStyle/>
          <a:p>
            <a:pPr indent="0" marL="0">
              <a:buNone/>
            </a:pPr>
            <a:r>
              <a:rPr lang="en-US" sz="1600" dirty="0">
                <a:solidFill>
                  <a:srgbClr val="3E5C4C"/>
                </a:solidFill>
              </a:rPr>
              <a:t>La IP de origen dice si el flujo es alumno o ataque.</a:t>
            </a:r>
            <a:endParaRPr lang="en-US" sz="1600" dirty="0"/>
          </a:p>
        </p:txBody>
      </p:sp>
      <p:sp>
        <p:nvSpPr>
          <p:cNvPr id="15" name="Text 13"/>
          <p:cNvSpPr txBox="1"/>
          <p:nvPr/>
        </p:nvSpPr>
        <p:spPr>
          <a:xfrm>
            <a:off x="6309360" y="2834640"/>
            <a:ext cx="640080" cy="502920"/>
          </a:xfrm>
          <a:prstGeom prst="rect">
            <a:avLst/>
          </a:prstGeom>
          <a:noFill/>
          <a:ln/>
        </p:spPr>
        <p:txBody>
          <a:bodyPr wrap="square" lIns="0" tIns="0" rIns="0" bIns="0" rtlCol="0" anchor="ctr"/>
          <a:lstStyle/>
          <a:p>
            <a:pPr indent="0" marL="0">
              <a:buNone/>
            </a:pPr>
            <a:r>
              <a:rPr lang="en-US" sz="2500" b="1" dirty="0">
                <a:solidFill>
                  <a:schemeClr val="accent1"/>
                </a:solidFill>
                <a:latin typeface="Arial" pitchFamily="34" charset="0"/>
                <a:ea typeface="Arial" pitchFamily="34" charset="-122"/>
                <a:cs typeface="Arial" pitchFamily="34" charset="-120"/>
              </a:rPr>
              <a:t>5</a:t>
            </a:r>
            <a:endParaRPr lang="en-US" sz="2500" dirty="0"/>
          </a:p>
        </p:txBody>
      </p:sp>
      <p:sp>
        <p:nvSpPr>
          <p:cNvPr id="16" name="Text 14"/>
          <p:cNvSpPr txBox="1"/>
          <p:nvPr/>
        </p:nvSpPr>
        <p:spPr>
          <a:xfrm>
            <a:off x="7086600" y="2834640"/>
            <a:ext cx="4663440"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Limpieza</a:t>
            </a:r>
            <a:endParaRPr lang="en-US" sz="2000" dirty="0"/>
          </a:p>
        </p:txBody>
      </p:sp>
      <p:sp>
        <p:nvSpPr>
          <p:cNvPr id="17" name="Text 15"/>
          <p:cNvSpPr txBox="1"/>
          <p:nvPr/>
        </p:nvSpPr>
        <p:spPr>
          <a:xfrm>
            <a:off x="7086600" y="3291840"/>
            <a:ext cx="4663440" cy="777240"/>
          </a:xfrm>
          <a:prstGeom prst="rect">
            <a:avLst/>
          </a:prstGeom>
          <a:noFill/>
          <a:ln/>
        </p:spPr>
        <p:txBody>
          <a:bodyPr wrap="square" lIns="0" tIns="0" rIns="0" bIns="0" rtlCol="0" anchor="ctr"/>
          <a:lstStyle/>
          <a:p>
            <a:pPr indent="0" marL="0">
              <a:buNone/>
            </a:pPr>
            <a:r>
              <a:rPr lang="en-US" sz="1600" dirty="0">
                <a:solidFill>
                  <a:srgbClr val="3E5C4C"/>
                </a:solidFill>
              </a:rPr>
              <a:t>Se botan IP, puertos y hora, para que el modelo no memorice.</a:t>
            </a:r>
            <a:endParaRPr lang="en-US" sz="1600" dirty="0"/>
          </a:p>
        </p:txBody>
      </p:sp>
      <p:sp>
        <p:nvSpPr>
          <p:cNvPr id="18" name="Text 16"/>
          <p:cNvSpPr txBox="1"/>
          <p:nvPr/>
        </p:nvSpPr>
        <p:spPr>
          <a:xfrm>
            <a:off x="6309360" y="4434840"/>
            <a:ext cx="640080" cy="502920"/>
          </a:xfrm>
          <a:prstGeom prst="rect">
            <a:avLst/>
          </a:prstGeom>
          <a:noFill/>
          <a:ln/>
        </p:spPr>
        <p:txBody>
          <a:bodyPr wrap="square" lIns="0" tIns="0" rIns="0" bIns="0" rtlCol="0" anchor="ctr"/>
          <a:lstStyle/>
          <a:p>
            <a:pPr indent="0" marL="0">
              <a:buNone/>
            </a:pPr>
            <a:r>
              <a:rPr lang="en-US" sz="2500" b="1" dirty="0">
                <a:solidFill>
                  <a:schemeClr val="accent1"/>
                </a:solidFill>
                <a:latin typeface="Arial" pitchFamily="34" charset="0"/>
                <a:ea typeface="Arial" pitchFamily="34" charset="-122"/>
                <a:cs typeface="Arial" pitchFamily="34" charset="-120"/>
              </a:rPr>
              <a:t>6</a:t>
            </a:r>
            <a:endParaRPr lang="en-US" sz="2500" dirty="0"/>
          </a:p>
        </p:txBody>
      </p:sp>
      <p:sp>
        <p:nvSpPr>
          <p:cNvPr id="19" name="Text 17"/>
          <p:cNvSpPr txBox="1"/>
          <p:nvPr/>
        </p:nvSpPr>
        <p:spPr>
          <a:xfrm>
            <a:off x="7086600" y="4434840"/>
            <a:ext cx="4663440"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Prueba</a:t>
            </a:r>
            <a:endParaRPr lang="en-US" sz="2000" dirty="0"/>
          </a:p>
        </p:txBody>
      </p:sp>
      <p:sp>
        <p:nvSpPr>
          <p:cNvPr id="20" name="Text 18"/>
          <p:cNvSpPr txBox="1"/>
          <p:nvPr/>
        </p:nvSpPr>
        <p:spPr>
          <a:xfrm>
            <a:off x="7086600" y="4892040"/>
            <a:ext cx="4663440" cy="777240"/>
          </a:xfrm>
          <a:prstGeom prst="rect">
            <a:avLst/>
          </a:prstGeom>
          <a:noFill/>
          <a:ln/>
        </p:spPr>
        <p:txBody>
          <a:bodyPr wrap="square" lIns="0" tIns="0" rIns="0" bIns="0" rtlCol="0" anchor="ctr"/>
          <a:lstStyle/>
          <a:p>
            <a:pPr indent="0" marL="0">
              <a:buNone/>
            </a:pPr>
            <a:r>
              <a:rPr lang="en-US" sz="1600" dirty="0">
                <a:solidFill>
                  <a:srgbClr val="3E5C4C"/>
                </a:solidFill>
              </a:rPr>
              <a:t>Agrarias no entra al entrenamiento. Ahí se mide el F1.</a:t>
            </a:r>
            <a:endParaRPr lang="en-US" sz="16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Entorno de experimentación</a:t>
            </a:r>
            <a:endParaRPr lang="en-US" sz="2900" dirty="0"/>
          </a:p>
        </p:txBody>
      </p:sp>
      <p:sp>
        <p:nvSpPr>
          <p:cNvPr id="3" name="Shape 1"/>
          <p:cNvSpPr/>
          <p:nvPr/>
        </p:nvSpPr>
        <p:spPr>
          <a:xfrm>
            <a:off x="502920" y="1188720"/>
            <a:ext cx="11155680" cy="1965960"/>
          </a:xfrm>
          <a:prstGeom prst="rect">
            <a:avLst/>
          </a:prstGeom>
          <a:solidFill>
            <a:srgbClr val="F4F7F5"/>
          </a:solidFill>
          <a:ln w="12700">
            <a:solidFill>
              <a:srgbClr val="D5E0D9"/>
            </a:solidFill>
            <a:prstDash val="solid"/>
          </a:ln>
        </p:spPr>
      </p:sp>
      <p:sp>
        <p:nvSpPr>
          <p:cNvPr id="4" name="Text 2"/>
          <p:cNvSpPr txBox="1"/>
          <p:nvPr/>
        </p:nvSpPr>
        <p:spPr>
          <a:xfrm>
            <a:off x="731520" y="1371600"/>
            <a:ext cx="10698480" cy="411480"/>
          </a:xfrm>
          <a:prstGeom prst="rect">
            <a:avLst/>
          </a:prstGeom>
          <a:noFill/>
          <a:ln/>
        </p:spPr>
        <p:txBody>
          <a:bodyPr wrap="square" lIns="0" tIns="0" rIns="0" bIns="0" rtlCol="0" anchor="ctr"/>
          <a:lstStyle/>
          <a:p>
            <a:pPr indent="0" marL="0">
              <a:buNone/>
            </a:pPr>
            <a:r>
              <a:rPr lang="en-US" sz="1900" dirty="0">
                <a:solidFill>
                  <a:srgbClr val="12261C"/>
                </a:solidFill>
                <a:latin typeface="Courier New" pitchFamily="34" charset="0"/>
                <a:ea typeface="Courier New" pitchFamily="34" charset="-122"/>
                <a:cs typeface="Courier New" pitchFamily="34" charset="-120"/>
              </a:rPr>
              <a:t>bash scripts/docker/run_scenario.sh all 120</a:t>
            </a:r>
            <a:endParaRPr lang="en-US" sz="1900" dirty="0"/>
          </a:p>
        </p:txBody>
      </p:sp>
      <p:sp>
        <p:nvSpPr>
          <p:cNvPr id="5" name="Text 3"/>
          <p:cNvSpPr txBox="1"/>
          <p:nvPr/>
        </p:nvSpPr>
        <p:spPr>
          <a:xfrm>
            <a:off x="731520" y="1874520"/>
            <a:ext cx="10698480" cy="365760"/>
          </a:xfrm>
          <a:prstGeom prst="rect">
            <a:avLst/>
          </a:prstGeom>
          <a:noFill/>
          <a:ln/>
        </p:spPr>
        <p:txBody>
          <a:bodyPr wrap="square" lIns="0" tIns="0" rIns="0" bIns="0" rtlCol="0" anchor="ctr"/>
          <a:lstStyle/>
          <a:p>
            <a:pPr indent="0" marL="0">
              <a:buNone/>
            </a:pPr>
            <a:r>
              <a:rPr lang="en-US" sz="1900" dirty="0">
                <a:solidFill>
                  <a:srgbClr val="12261C"/>
                </a:solidFill>
                <a:latin typeface="Courier New" pitchFamily="34" charset="0"/>
                <a:ea typeface="Courier New" pitchFamily="34" charset="-122"/>
                <a:cs typeface="Courier New" pitchFamily="34" charset="-120"/>
              </a:rPr>
              <a:t>bash scripts/docker/run_scenario.sh convert</a:t>
            </a:r>
            <a:endParaRPr lang="en-US" sz="1900" dirty="0"/>
          </a:p>
        </p:txBody>
      </p:sp>
      <p:sp>
        <p:nvSpPr>
          <p:cNvPr id="6" name="Text 4"/>
          <p:cNvSpPr txBox="1"/>
          <p:nvPr/>
        </p:nvSpPr>
        <p:spPr>
          <a:xfrm>
            <a:off x="731520" y="2331720"/>
            <a:ext cx="10698480" cy="365760"/>
          </a:xfrm>
          <a:prstGeom prst="rect">
            <a:avLst/>
          </a:prstGeom>
          <a:noFill/>
          <a:ln/>
        </p:spPr>
        <p:txBody>
          <a:bodyPr wrap="square" lIns="0" tIns="0" rIns="0" bIns="0" rtlCol="0" anchor="ctr"/>
          <a:lstStyle/>
          <a:p>
            <a:pPr indent="0" marL="0">
              <a:buNone/>
            </a:pPr>
            <a:r>
              <a:rPr lang="en-US" sz="1900" b="1" dirty="0">
                <a:solidFill>
                  <a:srgbClr val="135539"/>
                </a:solidFill>
                <a:latin typeface="Courier New" pitchFamily="34" charset="0"/>
                <a:ea typeface="Courier New" pitchFamily="34" charset="-122"/>
                <a:cs typeface="Courier New" pitchFamily="34" charset="-120"/>
              </a:rPr>
              <a:t>python notebooks/analisis_completo.py</a:t>
            </a:r>
            <a:endParaRPr lang="en-US" sz="1900" dirty="0"/>
          </a:p>
        </p:txBody>
      </p:sp>
      <p:sp>
        <p:nvSpPr>
          <p:cNvPr id="7" name="Text 5"/>
          <p:cNvSpPr txBox="1"/>
          <p:nvPr/>
        </p:nvSpPr>
        <p:spPr>
          <a:xfrm>
            <a:off x="502920" y="3383280"/>
            <a:ext cx="11155680" cy="1051560"/>
          </a:xfrm>
          <a:prstGeom prst="rect">
            <a:avLst/>
          </a:prstGeom>
          <a:noFill/>
          <a:ln/>
        </p:spPr>
        <p:txBody>
          <a:bodyPr wrap="square" lIns="0" tIns="0" rIns="0" bIns="0" rtlCol="0" anchor="ctr"/>
          <a:lstStyle/>
          <a:p>
            <a:pPr indent="0" marL="0">
              <a:buNone/>
            </a:pPr>
            <a:r>
              <a:rPr lang="en-US" sz="1800" dirty="0">
                <a:solidFill>
                  <a:srgbClr val="000000"/>
                </a:solidFill>
              </a:rPr>
              <a:t>La imagen se llama ataque-sdn. Es Ubuntu 24.04, privilegiada, con 6 CPU y 8 GB. Adentro arrancan Open vSwitch en userspace, Ryu 4.34 y Mininet. El ataque no tiene ruta hacia la red de la universidad.</a:t>
            </a:r>
            <a:endParaRPr lang="en-US" sz="1800" dirty="0"/>
          </a:p>
        </p:txBody>
      </p:sp>
      <p:sp>
        <p:nvSpPr>
          <p:cNvPr id="8" name="Text 6"/>
          <p:cNvSpPr txBox="1"/>
          <p:nvPr/>
        </p:nvSpPr>
        <p:spPr>
          <a:xfrm>
            <a:off x="502920" y="4572000"/>
            <a:ext cx="11155680" cy="1005840"/>
          </a:xfrm>
          <a:prstGeom prst="rect">
            <a:avLst/>
          </a:prstGeom>
          <a:noFill/>
          <a:ln/>
        </p:spPr>
        <p:txBody>
          <a:bodyPr wrap="square" lIns="0" tIns="0" rIns="0" bIns="0" rtlCol="0" anchor="ctr"/>
          <a:lstStyle/>
          <a:p>
            <a:pPr indent="0" marL="0">
              <a:buNone/>
            </a:pPr>
            <a:r>
              <a:rPr lang="en-US" sz="1800" dirty="0">
                <a:solidFill>
                  <a:srgbClr val="000000"/>
                </a:solidFill>
              </a:rPr>
              <a:t>Cada escenario deja el pcap, la sonda del alumno y un CSV de docker stats: CPU, memoria y red del contenedor, cada dos segundos.</a:t>
            </a:r>
            <a:endParaRPr lang="en-US" sz="18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Uso de recursos del contenedor</a:t>
            </a:r>
            <a:endParaRPr lang="en-US" sz="2900" dirty="0"/>
          </a:p>
        </p:txBody>
      </p:sp>
      <p:pic>
        <p:nvPicPr>
          <p:cNvPr id="3" name="Image 0" descr="/Users/alessandro/Project/UNCP/sdn-ddos-multiclass-detection/expo/img/cpu-docker.png">    </p:cNvPr>
          <p:cNvPicPr>
            <a:picLocks noChangeAspect="1"/>
          </p:cNvPicPr>
          <p:nvPr/>
        </p:nvPicPr>
        <p:blipFill>
          <a:blip r:embed="rId1"/>
          <a:stretch>
            <a:fillRect/>
          </a:stretch>
        </p:blipFill>
        <p:spPr>
          <a:xfrm>
            <a:off x="365760" y="1097280"/>
            <a:ext cx="7589520" cy="4892040"/>
          </a:xfrm>
          <a:prstGeom prst="rect">
            <a:avLst/>
          </a:prstGeom>
        </p:spPr>
      </p:pic>
      <p:sp>
        <p:nvSpPr>
          <p:cNvPr id="4" name="Text 1"/>
          <p:cNvSpPr txBox="1"/>
          <p:nvPr/>
        </p:nvSpPr>
        <p:spPr>
          <a:xfrm>
            <a:off x="8092440" y="1463040"/>
            <a:ext cx="3566160" cy="1188720"/>
          </a:xfrm>
          <a:prstGeom prst="rect">
            <a:avLst/>
          </a:prstGeom>
          <a:noFill/>
          <a:ln/>
        </p:spPr>
        <p:txBody>
          <a:bodyPr wrap="square" lIns="0" tIns="0" rIns="0" bIns="0" rtlCol="0" anchor="ctr"/>
          <a:lstStyle/>
          <a:p>
            <a:pPr indent="0" marL="0">
              <a:buNone/>
            </a:pPr>
            <a:r>
              <a:rPr lang="en-US" sz="1800" dirty="0">
                <a:solidFill>
                  <a:srgbClr val="000000"/>
                </a:solidFill>
              </a:rPr>
              <a:t>100 % es un núcleo. El contenedor tiene seis.</a:t>
            </a:r>
            <a:endParaRPr lang="en-US" sz="1800" dirty="0"/>
          </a:p>
        </p:txBody>
      </p:sp>
      <p:sp>
        <p:nvSpPr>
          <p:cNvPr id="5" name="Text 2"/>
          <p:cNvSpPr txBox="1"/>
          <p:nvPr/>
        </p:nvSpPr>
        <p:spPr>
          <a:xfrm>
            <a:off x="8092440" y="2880360"/>
            <a:ext cx="3566160" cy="1554480"/>
          </a:xfrm>
          <a:prstGeom prst="rect">
            <a:avLst/>
          </a:prstGeom>
          <a:noFill/>
          <a:ln/>
        </p:spPr>
        <p:txBody>
          <a:bodyPr wrap="square" lIns="0" tIns="0" rIns="0" bIns="0" rtlCol="0" anchor="ctr"/>
          <a:lstStyle/>
          <a:p>
            <a:pPr indent="0" marL="0">
              <a:buNone/>
            </a:pPr>
            <a:r>
              <a:rPr lang="en-US" sz="1800" dirty="0">
                <a:solidFill>
                  <a:srgbClr val="000000"/>
                </a:solidFill>
              </a:rPr>
              <a:t>Slowloris sostuvo unos cinco núcleos. Mantiene conexiones abiertas y el emulador se queda trabajando.</a:t>
            </a:r>
            <a:endParaRPr lang="en-US" sz="1800" dirty="0"/>
          </a:p>
        </p:txBody>
      </p:sp>
      <p:sp>
        <p:nvSpPr>
          <p:cNvPr id="6" name="Text 3"/>
          <p:cNvSpPr txBox="1"/>
          <p:nvPr/>
        </p:nvSpPr>
        <p:spPr>
          <a:xfrm>
            <a:off x="8092440" y="4617720"/>
            <a:ext cx="3566160" cy="1371600"/>
          </a:xfrm>
          <a:prstGeom prst="rect">
            <a:avLst/>
          </a:prstGeom>
          <a:noFill/>
          <a:ln/>
        </p:spPr>
        <p:txBody>
          <a:bodyPr wrap="square" lIns="0" tIns="0" rIns="0" bIns="0" rtlCol="0" anchor="ctr"/>
          <a:lstStyle/>
          <a:p>
            <a:pPr indent="0" marL="0">
              <a:buNone/>
            </a:pPr>
            <a:r>
              <a:rPr lang="en-US" sz="1800" dirty="0">
                <a:solidFill>
                  <a:srgbClr val="000000"/>
                </a:solidFill>
              </a:rPr>
              <a:t>SYN, ICMP y el baseline andan cerca de un núcleo. El costo grande no es el flood: es Slowloris.</a:t>
            </a:r>
            <a:endParaRPr lang="en-US" sz="18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Disponibilidad y latencia del portal</a:t>
            </a:r>
            <a:endParaRPr lang="en-US" sz="2900" dirty="0"/>
          </a:p>
        </p:txBody>
      </p:sp>
      <p:sp>
        <p:nvSpPr>
          <p:cNvPr id="3" name="Text 1"/>
          <p:cNvSpPr txBox="1"/>
          <p:nvPr/>
        </p:nvSpPr>
        <p:spPr>
          <a:xfrm>
            <a:off x="502920" y="1051560"/>
            <a:ext cx="11155680" cy="640080"/>
          </a:xfrm>
          <a:prstGeom prst="rect">
            <a:avLst/>
          </a:prstGeom>
          <a:noFill/>
          <a:ln/>
        </p:spPr>
        <p:txBody>
          <a:bodyPr wrap="square" lIns="0" tIns="0" rIns="0" bIns="0" rtlCol="0" anchor="ctr"/>
          <a:lstStyle/>
          <a:p>
            <a:pPr indent="0" marL="0">
              <a:buNone/>
            </a:pPr>
            <a:r>
              <a:rPr lang="en-US" sz="1600" dirty="0">
                <a:solidFill>
                  <a:srgbClr val="3E5C4C"/>
                </a:solidFill>
              </a:rPr>
              <a:t>Un alumno de Salud pide el portal una vez por segundo, durante 120 segundos. Esto no es el modelo: es si la página abre.</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55680" cy="4114800"/>
        </p:xfrm>
        <a:graphic>
          <a:graphicData uri="http://schemas.openxmlformats.org/drawingml/2006/table">
            <a:tbl>
              <a:tblPr/>
              <a:tblGrid>
                <a:gridCol w="1920240"/>
                <a:gridCol w="1188720"/>
                <a:gridCol w="1188720"/>
                <a:gridCol w="1554480"/>
                <a:gridCol w="1645920"/>
                <a:gridCol w="3657600"/>
              </a:tblGrid>
              <a:tr h="56692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Escenario</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Abre</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Falla</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Latencia</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Paquetes/s</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Qué se siente</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r>
              <a:tr h="566928">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Baseline</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120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407 ms</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111</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La página normal</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SYN</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120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404 ms</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466</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Más ruido, la página sigue</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HTTP flood</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120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564 ms</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386</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Tarda más</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Slowloris</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117</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403 ms</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86</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Deja de abrir</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ICMP</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120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404 ms</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271</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Más ruido, la página sigue</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Topología del banco de pruebas</a:t>
            </a:r>
            <a:endParaRPr lang="en-US" sz="2900" dirty="0"/>
          </a:p>
        </p:txBody>
      </p:sp>
      <p:pic>
        <p:nvPicPr>
          <p:cNvPr id="3" name="Image 0" descr="/Users/alessandro/Project/UNCP/sdn-ddos-multiclass-detection/paper/figures/topologia-campus-uncp.png">    </p:cNvPr>
          <p:cNvPicPr>
            <a:picLocks noChangeAspect="1"/>
          </p:cNvPicPr>
          <p:nvPr/>
        </p:nvPicPr>
        <p:blipFill>
          <a:blip r:embed="rId1"/>
          <a:stretch>
            <a:fillRect/>
          </a:stretch>
        </p:blipFill>
        <p:spPr>
          <a:xfrm>
            <a:off x="320040" y="1051560"/>
            <a:ext cx="8138160" cy="4572000"/>
          </a:xfrm>
          <a:prstGeom prst="rect">
            <a:avLst/>
          </a:prstGeom>
        </p:spPr>
      </p:pic>
      <p:sp>
        <p:nvSpPr>
          <p:cNvPr id="4" name="Text 1"/>
          <p:cNvSpPr txBox="1"/>
          <p:nvPr/>
        </p:nvSpPr>
        <p:spPr>
          <a:xfrm>
            <a:off x="8641080" y="1371600"/>
            <a:ext cx="3108960" cy="1371600"/>
          </a:xfrm>
          <a:prstGeom prst="rect">
            <a:avLst/>
          </a:prstGeom>
          <a:noFill/>
          <a:ln/>
        </p:spPr>
        <p:txBody>
          <a:bodyPr wrap="square" lIns="0" tIns="0" rIns="0" bIns="0" rtlCol="0" anchor="ctr"/>
          <a:lstStyle/>
          <a:p>
            <a:pPr indent="0" marL="0">
              <a:buNone/>
            </a:pPr>
            <a:r>
              <a:rPr lang="en-US" sz="1600" dirty="0">
                <a:solidFill>
                  <a:srgbClr val="000000"/>
                </a:solidFill>
              </a:rPr>
              <a:t>Cinco laboratorios. En cada uno, 4 alumnos y 2 PCs infectadas.</a:t>
            </a:r>
            <a:endParaRPr lang="en-US" sz="1600" dirty="0"/>
          </a:p>
        </p:txBody>
      </p:sp>
      <p:sp>
        <p:nvSpPr>
          <p:cNvPr id="5" name="Text 2"/>
          <p:cNvSpPr txBox="1"/>
          <p:nvPr/>
        </p:nvSpPr>
        <p:spPr>
          <a:xfrm>
            <a:off x="8641080" y="2926080"/>
            <a:ext cx="3108960" cy="1371600"/>
          </a:xfrm>
          <a:prstGeom prst="rect">
            <a:avLst/>
          </a:prstGeom>
          <a:noFill/>
          <a:ln/>
        </p:spPr>
        <p:txBody>
          <a:bodyPr wrap="square" lIns="0" tIns="0" rIns="0" bIns="0" rtlCol="0" anchor="ctr"/>
          <a:lstStyle/>
          <a:p>
            <a:pPr indent="0" marL="0">
              <a:buNone/>
            </a:pPr>
            <a:r>
              <a:rPr lang="en-US" sz="1600" dirty="0">
                <a:solidFill>
                  <a:srgbClr val="000000"/>
                </a:solidFill>
              </a:rPr>
              <a:t>El C2 está fuera del campus y solo da la orden. Quien ataca es la PC infectada.</a:t>
            </a:r>
            <a:endParaRPr lang="en-US" sz="1600" dirty="0"/>
          </a:p>
        </p:txBody>
      </p:sp>
      <p:sp>
        <p:nvSpPr>
          <p:cNvPr id="6" name="Text 3"/>
          <p:cNvSpPr txBox="1"/>
          <p:nvPr/>
        </p:nvSpPr>
        <p:spPr>
          <a:xfrm>
            <a:off x="8641080" y="4480560"/>
            <a:ext cx="3108960" cy="1188720"/>
          </a:xfrm>
          <a:prstGeom prst="rect">
            <a:avLst/>
          </a:prstGeom>
          <a:noFill/>
          <a:ln/>
        </p:spPr>
        <p:txBody>
          <a:bodyPr wrap="square" lIns="0" tIns="0" rIns="0" bIns="0" rtlCol="0" anchor="ctr"/>
          <a:lstStyle/>
          <a:p>
            <a:pPr indent="0" marL="0">
              <a:buNone/>
            </a:pPr>
            <a:r>
              <a:rPr lang="en-US" sz="1600" dirty="0">
                <a:solidFill>
                  <a:srgbClr val="000000"/>
                </a:solidFill>
              </a:rPr>
              <a:t>La víctima es el portal, 10.0.0.10. No el controlador.</a:t>
            </a:r>
            <a:endParaRPr lang="en-US" sz="16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Construcción del conjunto de datos</a:t>
            </a:r>
            <a:endParaRPr lang="en-US" sz="2900" dirty="0"/>
          </a:p>
        </p:txBody>
      </p:sp>
      <p:pic>
        <p:nvPicPr>
          <p:cNvPr id="3" name="Image 0" descr="/Users/alessandro/Project/UNCP/sdn-ddos-multiclass-detection/expo/img/flujos.png">    </p:cNvPr>
          <p:cNvPicPr>
            <a:picLocks noChangeAspect="1"/>
          </p:cNvPicPr>
          <p:nvPr/>
        </p:nvPicPr>
        <p:blipFill>
          <a:blip r:embed="rId1"/>
          <a:stretch>
            <a:fillRect/>
          </a:stretch>
        </p:blipFill>
        <p:spPr>
          <a:xfrm>
            <a:off x="320040" y="1097280"/>
            <a:ext cx="6949440" cy="4754880"/>
          </a:xfrm>
          <a:prstGeom prst="rect">
            <a:avLst/>
          </a:prstGeom>
        </p:spPr>
      </p:pic>
      <p:sp>
        <p:nvSpPr>
          <p:cNvPr id="4" name="Text 1"/>
          <p:cNvSpPr txBox="1"/>
          <p:nvPr/>
        </p:nvSpPr>
        <p:spPr>
          <a:xfrm>
            <a:off x="7452360" y="1325880"/>
            <a:ext cx="4206240"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40.877 flujos en total</a:t>
            </a:r>
            <a:endParaRPr lang="en-US" sz="2000" dirty="0"/>
          </a:p>
        </p:txBody>
      </p:sp>
      <p:sp>
        <p:nvSpPr>
          <p:cNvPr id="5" name="Text 2"/>
          <p:cNvSpPr txBox="1"/>
          <p:nvPr/>
        </p:nvSpPr>
        <p:spPr>
          <a:xfrm>
            <a:off x="7452360" y="1965960"/>
            <a:ext cx="4206240" cy="1051560"/>
          </a:xfrm>
          <a:prstGeom prst="rect">
            <a:avLst/>
          </a:prstGeom>
          <a:noFill/>
          <a:ln/>
        </p:spPr>
        <p:txBody>
          <a:bodyPr wrap="square" lIns="0" tIns="0" rIns="0" bIns="0" rtlCol="0" anchor="ctr"/>
          <a:lstStyle/>
          <a:p>
            <a:pPr indent="0" marL="0">
              <a:buNone/>
            </a:pPr>
            <a:r>
              <a:rPr lang="en-US" sz="1600" dirty="0">
                <a:solidFill>
                  <a:srgbClr val="000000"/>
                </a:solidFill>
              </a:rPr>
              <a:t>TCP y UDP los cuenta CICFlowMeter. ICMP no pasa ese filtro.</a:t>
            </a:r>
            <a:endParaRPr lang="en-US" sz="1600" dirty="0"/>
          </a:p>
        </p:txBody>
      </p:sp>
      <p:sp>
        <p:nvSpPr>
          <p:cNvPr id="6" name="Text 3"/>
          <p:cNvSpPr txBox="1"/>
          <p:nvPr/>
        </p:nvSpPr>
        <p:spPr>
          <a:xfrm>
            <a:off x="7452360" y="3154680"/>
            <a:ext cx="4206240" cy="1280160"/>
          </a:xfrm>
          <a:prstGeom prst="rect">
            <a:avLst/>
          </a:prstGeom>
          <a:noFill/>
          <a:ln/>
        </p:spPr>
        <p:txBody>
          <a:bodyPr wrap="square" lIns="0" tIns="0" rIns="0" bIns="0" rtlCol="0" anchor="ctr"/>
          <a:lstStyle/>
          <a:p>
            <a:pPr indent="0" marL="0">
              <a:buNone/>
            </a:pPr>
            <a:r>
              <a:rPr lang="en-US" sz="1600" dirty="0">
                <a:solidFill>
                  <a:srgbClr val="000000"/>
                </a:solidFill>
              </a:rPr>
              <a:t>El agrupador ICMP cierra el flujo a los 10 segundos. Si no, cada infectada dejaría una sola fila.</a:t>
            </a:r>
            <a:endParaRPr lang="en-US" sz="1600" dirty="0"/>
          </a:p>
        </p:txBody>
      </p:sp>
      <p:sp>
        <p:nvSpPr>
          <p:cNvPr id="7" name="Text 4"/>
          <p:cNvSpPr txBox="1"/>
          <p:nvPr/>
        </p:nvSpPr>
        <p:spPr>
          <a:xfrm>
            <a:off x="7452360" y="4617720"/>
            <a:ext cx="4206240" cy="1188720"/>
          </a:xfrm>
          <a:prstGeom prst="rect">
            <a:avLst/>
          </a:prstGeom>
          <a:noFill/>
          <a:ln/>
        </p:spPr>
        <p:txBody>
          <a:bodyPr wrap="square" lIns="0" tIns="0" rIns="0" bIns="0" rtlCol="0" anchor="ctr"/>
          <a:lstStyle/>
          <a:p>
            <a:pPr indent="0" marL="0">
              <a:buNone/>
            </a:pPr>
            <a:r>
              <a:rPr lang="en-US" sz="1600" dirty="0">
                <a:solidFill>
                  <a:srgbClr val="000000"/>
                </a:solidFill>
              </a:rPr>
              <a:t>Aun así ICMP queda chico: 120 flujos en todo el conjunto. SYN se lleva 23.539.</a:t>
            </a:r>
            <a:endParaRPr lang="en-US" sz="16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Estrategia de etiquetado</a:t>
            </a:r>
            <a:endParaRPr lang="en-US" sz="2900" dirty="0"/>
          </a:p>
        </p:txBody>
      </p:sp>
      <p:sp>
        <p:nvSpPr>
          <p:cNvPr id="3" name="Text 1"/>
          <p:cNvSpPr txBox="1"/>
          <p:nvPr/>
        </p:nvSpPr>
        <p:spPr>
          <a:xfrm>
            <a:off x="502920" y="1097280"/>
            <a:ext cx="11155680" cy="822960"/>
          </a:xfrm>
          <a:prstGeom prst="rect">
            <a:avLst/>
          </a:prstGeom>
          <a:noFill/>
          <a:ln/>
        </p:spPr>
        <p:txBody>
          <a:bodyPr wrap="square" lIns="0" tIns="0" rIns="0" bIns="0" rtlCol="0" anchor="ctr"/>
          <a:lstStyle/>
          <a:p>
            <a:pPr indent="0" marL="0">
              <a:buNone/>
            </a:pPr>
            <a:r>
              <a:rPr lang="en-US" sz="1800" dirty="0">
                <a:solidFill>
                  <a:srgbClr val="000000"/>
                </a:solidFill>
              </a:rPr>
              <a:t>Alumno y ataque viajan en el mismo pcap. Si se etiquetara el archivo entero, el alumno quedaría marcado como ataque.</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55680" cy="3108960"/>
        </p:xfrm>
        <a:graphic>
          <a:graphicData uri="http://schemas.openxmlformats.org/drawingml/2006/table">
            <a:tbl>
              <a:tblPr/>
              <a:tblGrid>
                <a:gridCol w="4754880"/>
                <a:gridCol w="3474720"/>
                <a:gridCol w="2926080"/>
              </a:tblGrid>
              <a:tr h="713232">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Quién envía</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Escenario</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Etiqueta</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r>
              <a:tr h="713232">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Alumno, portal o cualquier otra IP</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Cualquiera</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BENIGN</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0EA"/>
                    </a:solidFill>
                  </a:tcPr>
                </a:tc>
              </a:tr>
              <a:tr h="713232">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PC infectada</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Baseline</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BENIGN  (todavía navega)</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0EA"/>
                    </a:solidFill>
                  </a:tcPr>
                </a:tc>
              </a:tr>
              <a:tr h="713232">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PC infectada</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SYN, HTTP, Slowloris o ICMP</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2261C"/>
                          </a:solidFill>
                          <a:latin typeface="Calibri" pitchFamily="34" charset="0"/>
                          <a:ea typeface="Calibri" pitchFamily="34" charset="-122"/>
                          <a:cs typeface="Calibri" pitchFamily="34" charset="-120"/>
                        </a:rPr>
                        <a:t>El nombre del ataque</a:t>
                      </a:r>
                      <a:endParaRPr lang="en-US" sz="1600" dirty="0">
                        <a:latin typeface="Calibri" charset="0"/>
                        <a:ea typeface="Calibri" charset="0"/>
                        <a:cs typeface="Calibri" charset="0"/>
                      </a:endParaRPr>
                    </a:p>
                  </a:txBody>
                  <a:tcPr marL="1524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0EA"/>
                    </a:solidFill>
                  </a:tcPr>
                </a:tc>
              </a:tr>
            </a:tbl>
          </a:graphicData>
        </a:graphic>
      </p:graphicFrame>
      <p:sp>
        <p:nvSpPr>
          <p:cNvPr id="5" name="Text 2"/>
          <p:cNvSpPr txBox="1"/>
          <p:nvPr/>
        </p:nvSpPr>
        <p:spPr>
          <a:xfrm>
            <a:off x="502920" y="5440680"/>
            <a:ext cx="11155680" cy="457200"/>
          </a:xfrm>
          <a:prstGeom prst="rect">
            <a:avLst/>
          </a:prstGeom>
          <a:noFill/>
          <a:ln/>
        </p:spPr>
        <p:txBody>
          <a:bodyPr wrap="square" lIns="0" tIns="0" rIns="0" bIns="0" rtlCol="0" anchor="ctr"/>
          <a:lstStyle/>
          <a:p>
            <a:pPr indent="0" marL="0">
              <a:buNone/>
            </a:pPr>
            <a:r>
              <a:rPr lang="en-US" sz="1600" dirty="0">
                <a:solidFill>
                  <a:srgbClr val="3E5C4C"/>
                </a:solidFill>
              </a:rPr>
              <a:t>La lista de infectadas está en el JSON que se guarda junto al pcap.</a:t>
            </a:r>
            <a:endParaRPr lang="en-US" sz="16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Preprocesamiento y control de fuga de información</a:t>
            </a:r>
            <a:endParaRPr lang="en-US" sz="2900" dirty="0"/>
          </a:p>
        </p:txBody>
      </p:sp>
      <p:sp>
        <p:nvSpPr>
          <p:cNvPr id="3" name="Text 1"/>
          <p:cNvSpPr txBox="1"/>
          <p:nvPr/>
        </p:nvSpPr>
        <p:spPr>
          <a:xfrm>
            <a:off x="502920" y="1188720"/>
            <a:ext cx="11155680" cy="384048"/>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IP de origen y de destino</a:t>
            </a:r>
            <a:endParaRPr lang="en-US" sz="2000" dirty="0"/>
          </a:p>
        </p:txBody>
      </p:sp>
      <p:sp>
        <p:nvSpPr>
          <p:cNvPr id="4" name="Text 2"/>
          <p:cNvSpPr txBox="1"/>
          <p:nvPr/>
        </p:nvSpPr>
        <p:spPr>
          <a:xfrm>
            <a:off x="502920" y="1609344"/>
            <a:ext cx="11155680" cy="502920"/>
          </a:xfrm>
          <a:prstGeom prst="rect">
            <a:avLst/>
          </a:prstGeom>
          <a:noFill/>
          <a:ln/>
        </p:spPr>
        <p:txBody>
          <a:bodyPr wrap="square" lIns="0" tIns="0" rIns="0" bIns="0" rtlCol="0" anchor="ctr"/>
          <a:lstStyle/>
          <a:p>
            <a:pPr indent="0" marL="0">
              <a:buNone/>
            </a:pPr>
            <a:r>
              <a:rPr lang="en-US" sz="1800" dirty="0">
                <a:solidFill>
                  <a:srgbClr val="3E5C4C"/>
                </a:solidFill>
              </a:rPr>
              <a:t>Si se quedan, el bosque aprende la dirección de la infectada, no el flujo.</a:t>
            </a:r>
            <a:endParaRPr lang="en-US" sz="1800" dirty="0"/>
          </a:p>
        </p:txBody>
      </p:sp>
      <p:sp>
        <p:nvSpPr>
          <p:cNvPr id="5" name="Text 3"/>
          <p:cNvSpPr txBox="1"/>
          <p:nvPr/>
        </p:nvSpPr>
        <p:spPr>
          <a:xfrm>
            <a:off x="502920" y="2377440"/>
            <a:ext cx="11155680" cy="384048"/>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Puerto de origen y de destino</a:t>
            </a:r>
            <a:endParaRPr lang="en-US" sz="2000" dirty="0"/>
          </a:p>
        </p:txBody>
      </p:sp>
      <p:sp>
        <p:nvSpPr>
          <p:cNvPr id="6" name="Text 4"/>
          <p:cNvSpPr txBox="1"/>
          <p:nvPr/>
        </p:nvSpPr>
        <p:spPr>
          <a:xfrm>
            <a:off x="502920" y="2798064"/>
            <a:ext cx="11155680" cy="502920"/>
          </a:xfrm>
          <a:prstGeom prst="rect">
            <a:avLst/>
          </a:prstGeom>
          <a:noFill/>
          <a:ln/>
        </p:spPr>
        <p:txBody>
          <a:bodyPr wrap="square" lIns="0" tIns="0" rIns="0" bIns="0" rtlCol="0" anchor="ctr"/>
          <a:lstStyle/>
          <a:p>
            <a:pPr indent="0" marL="0">
              <a:buNone/>
            </a:pPr>
            <a:r>
              <a:rPr lang="en-US" sz="1800" dirty="0">
                <a:solidFill>
                  <a:srgbClr val="3E5C4C"/>
                </a:solidFill>
              </a:rPr>
              <a:t>El portal siempre es el puerto 80. Eso no distingue un ataque.</a:t>
            </a:r>
            <a:endParaRPr lang="en-US" sz="1800" dirty="0"/>
          </a:p>
        </p:txBody>
      </p:sp>
      <p:sp>
        <p:nvSpPr>
          <p:cNvPr id="7" name="Text 5"/>
          <p:cNvSpPr txBox="1"/>
          <p:nvPr/>
        </p:nvSpPr>
        <p:spPr>
          <a:xfrm>
            <a:off x="502920" y="3566160"/>
            <a:ext cx="11155680" cy="384048"/>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Marca de tiempo</a:t>
            </a:r>
            <a:endParaRPr lang="en-US" sz="2000" dirty="0"/>
          </a:p>
        </p:txBody>
      </p:sp>
      <p:sp>
        <p:nvSpPr>
          <p:cNvPr id="8" name="Text 6"/>
          <p:cNvSpPr txBox="1"/>
          <p:nvPr/>
        </p:nvSpPr>
        <p:spPr>
          <a:xfrm>
            <a:off x="502920" y="3986784"/>
            <a:ext cx="11155680" cy="502920"/>
          </a:xfrm>
          <a:prstGeom prst="rect">
            <a:avLst/>
          </a:prstGeom>
          <a:noFill/>
          <a:ln/>
        </p:spPr>
        <p:txBody>
          <a:bodyPr wrap="square" lIns="0" tIns="0" rIns="0" bIns="0" rtlCol="0" anchor="ctr"/>
          <a:lstStyle/>
          <a:p>
            <a:pPr indent="0" marL="0">
              <a:buNone/>
            </a:pPr>
            <a:r>
              <a:rPr lang="en-US" sz="1800" dirty="0">
                <a:solidFill>
                  <a:srgbClr val="3E5C4C"/>
                </a:solidFill>
              </a:rPr>
              <a:t>El orden de la captura no es un rasgo del tráfico.</a:t>
            </a:r>
            <a:endParaRPr lang="en-US" sz="1800" dirty="0"/>
          </a:p>
        </p:txBody>
      </p:sp>
      <p:sp>
        <p:nvSpPr>
          <p:cNvPr id="9" name="Text 7"/>
          <p:cNvSpPr txBox="1"/>
          <p:nvPr/>
        </p:nvSpPr>
        <p:spPr>
          <a:xfrm>
            <a:off x="502920" y="4754880"/>
            <a:ext cx="11155680" cy="384048"/>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Infinitos, vacíos y columnas quietas</a:t>
            </a:r>
            <a:endParaRPr lang="en-US" sz="2000" dirty="0"/>
          </a:p>
        </p:txBody>
      </p:sp>
      <p:sp>
        <p:nvSpPr>
          <p:cNvPr id="10" name="Text 8"/>
          <p:cNvSpPr txBox="1"/>
          <p:nvPr/>
        </p:nvSpPr>
        <p:spPr>
          <a:xfrm>
            <a:off x="502920" y="5175504"/>
            <a:ext cx="11155680" cy="502920"/>
          </a:xfrm>
          <a:prstGeom prst="rect">
            <a:avLst/>
          </a:prstGeom>
          <a:noFill/>
          <a:ln/>
        </p:spPr>
        <p:txBody>
          <a:bodyPr wrap="square" lIns="0" tIns="0" rIns="0" bIns="0" rtlCol="0" anchor="ctr"/>
          <a:lstStyle/>
          <a:p>
            <a:pPr indent="0" marL="0">
              <a:buNone/>
            </a:pPr>
            <a:r>
              <a:rPr lang="en-US" sz="1800" dirty="0">
                <a:solidFill>
                  <a:srgbClr val="3E5C4C"/>
                </a:solidFill>
              </a:rPr>
              <a:t>Pasan a cero, o se quitan si en el entrenamiento no cambian.</a:t>
            </a:r>
            <a:endParaRPr lang="en-US" sz="18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Separación de entrenamiento y prueba</a:t>
            </a:r>
            <a:endParaRPr lang="en-US" sz="2900" dirty="0"/>
          </a:p>
        </p:txBody>
      </p:sp>
      <p:sp>
        <p:nvSpPr>
          <p:cNvPr id="3" name="Text 1"/>
          <p:cNvSpPr txBox="1"/>
          <p:nvPr/>
        </p:nvSpPr>
        <p:spPr>
          <a:xfrm>
            <a:off x="502920" y="1463040"/>
            <a:ext cx="5029200" cy="1051560"/>
          </a:xfrm>
          <a:prstGeom prst="rect">
            <a:avLst/>
          </a:prstGeom>
          <a:noFill/>
          <a:ln/>
        </p:spPr>
        <p:txBody>
          <a:bodyPr wrap="square" lIns="0" tIns="0" rIns="0" bIns="0" rtlCol="0" anchor="ctr"/>
          <a:lstStyle/>
          <a:p>
            <a:pPr indent="0" marL="0">
              <a:buNone/>
            </a:pPr>
            <a:r>
              <a:rPr lang="en-US" sz="5000" b="1" dirty="0">
                <a:solidFill>
                  <a:schemeClr val="accent1"/>
                </a:solidFill>
                <a:latin typeface="Arial" pitchFamily="34" charset="0"/>
                <a:ea typeface="Arial" pitchFamily="34" charset="-122"/>
                <a:cs typeface="Arial" pitchFamily="34" charset="-120"/>
              </a:rPr>
              <a:t>32.784</a:t>
            </a:r>
            <a:endParaRPr lang="en-US" sz="5000" dirty="0"/>
          </a:p>
        </p:txBody>
      </p:sp>
      <p:sp>
        <p:nvSpPr>
          <p:cNvPr id="4" name="Text 2"/>
          <p:cNvSpPr txBox="1"/>
          <p:nvPr/>
        </p:nvSpPr>
        <p:spPr>
          <a:xfrm>
            <a:off x="502920" y="2606040"/>
            <a:ext cx="5303520" cy="1005840"/>
          </a:xfrm>
          <a:prstGeom prst="rect">
            <a:avLst/>
          </a:prstGeom>
          <a:noFill/>
          <a:ln/>
        </p:spPr>
        <p:txBody>
          <a:bodyPr wrap="square" lIns="0" tIns="0" rIns="0" bIns="0" rtlCol="0" anchor="ctr"/>
          <a:lstStyle/>
          <a:p>
            <a:pPr indent="0" marL="0">
              <a:buNone/>
            </a:pPr>
            <a:r>
              <a:rPr lang="en-US" sz="1800" dirty="0">
                <a:solidFill>
                  <a:srgbClr val="000000"/>
                </a:solidFill>
              </a:rPr>
              <a:t>flujos para entrenar</a:t>
            </a:r>
            <a:endParaRPr lang="en-US" sz="1800" dirty="0"/>
          </a:p>
          <a:p>
            <a:pPr indent="0" marL="0">
              <a:buNone/>
            </a:pPr>
            <a:r>
              <a:rPr lang="en-US" sz="1800" dirty="0">
                <a:solidFill>
                  <a:srgbClr val="000000"/>
                </a:solidFill>
              </a:rPr>
              <a:t>Salud, Ingenierías, Empresariales, Sociales</a:t>
            </a:r>
            <a:endParaRPr lang="en-US" sz="1800" dirty="0"/>
          </a:p>
        </p:txBody>
      </p:sp>
      <p:sp>
        <p:nvSpPr>
          <p:cNvPr id="5" name="Text 3"/>
          <p:cNvSpPr txBox="1"/>
          <p:nvPr/>
        </p:nvSpPr>
        <p:spPr>
          <a:xfrm>
            <a:off x="6492240" y="1463040"/>
            <a:ext cx="5029200" cy="1051560"/>
          </a:xfrm>
          <a:prstGeom prst="rect">
            <a:avLst/>
          </a:prstGeom>
          <a:noFill/>
          <a:ln/>
        </p:spPr>
        <p:txBody>
          <a:bodyPr wrap="square" lIns="0" tIns="0" rIns="0" bIns="0" rtlCol="0" anchor="ctr"/>
          <a:lstStyle/>
          <a:p>
            <a:pPr indent="0" marL="0">
              <a:buNone/>
            </a:pPr>
            <a:r>
              <a:rPr lang="en-US" sz="5000" b="1" dirty="0">
                <a:solidFill>
                  <a:schemeClr val="accent1"/>
                </a:solidFill>
                <a:latin typeface="Arial" pitchFamily="34" charset="0"/>
                <a:ea typeface="Arial" pitchFamily="34" charset="-122"/>
                <a:cs typeface="Arial" pitchFamily="34" charset="-120"/>
              </a:rPr>
              <a:t>8.091</a:t>
            </a:r>
            <a:endParaRPr lang="en-US" sz="5000" dirty="0"/>
          </a:p>
        </p:txBody>
      </p:sp>
      <p:sp>
        <p:nvSpPr>
          <p:cNvPr id="6" name="Text 4"/>
          <p:cNvSpPr txBox="1"/>
          <p:nvPr/>
        </p:nvSpPr>
        <p:spPr>
          <a:xfrm>
            <a:off x="6492240" y="2606040"/>
            <a:ext cx="5029200" cy="1005840"/>
          </a:xfrm>
          <a:prstGeom prst="rect">
            <a:avLst/>
          </a:prstGeom>
          <a:noFill/>
          <a:ln/>
        </p:spPr>
        <p:txBody>
          <a:bodyPr wrap="square" lIns="0" tIns="0" rIns="0" bIns="0" rtlCol="0" anchor="ctr"/>
          <a:lstStyle/>
          <a:p>
            <a:pPr indent="0" marL="0">
              <a:buNone/>
            </a:pPr>
            <a:r>
              <a:rPr lang="en-US" sz="1800" dirty="0">
                <a:solidFill>
                  <a:srgbClr val="000000"/>
                </a:solidFill>
              </a:rPr>
              <a:t>flujos para probar</a:t>
            </a:r>
            <a:endParaRPr lang="en-US" sz="1800" dirty="0"/>
          </a:p>
          <a:p>
            <a:pPr indent="0" marL="0">
              <a:buNone/>
            </a:pPr>
            <a:r>
              <a:rPr lang="en-US" sz="1800" dirty="0">
                <a:solidFill>
                  <a:srgbClr val="000000"/>
                </a:solidFill>
              </a:rPr>
              <a:t>solo Ciencias Agrarias, prefijo 10.5</a:t>
            </a:r>
            <a:endParaRPr lang="en-US" sz="1800" dirty="0"/>
          </a:p>
        </p:txBody>
      </p:sp>
      <p:sp>
        <p:nvSpPr>
          <p:cNvPr id="7" name="Text 5"/>
          <p:cNvSpPr txBox="1"/>
          <p:nvPr/>
        </p:nvSpPr>
        <p:spPr>
          <a:xfrm>
            <a:off x="502920" y="4023360"/>
            <a:ext cx="11155680" cy="1005840"/>
          </a:xfrm>
          <a:prstGeom prst="rect">
            <a:avLst/>
          </a:prstGeom>
          <a:noFill/>
          <a:ln/>
        </p:spPr>
        <p:txBody>
          <a:bodyPr wrap="square" lIns="0" tIns="0" rIns="0" bIns="0" rtlCol="0" anchor="ctr"/>
          <a:lstStyle/>
          <a:p>
            <a:pPr indent="0" marL="0">
              <a:buNone/>
            </a:pPr>
            <a:r>
              <a:rPr lang="en-US" sz="1800" dirty="0">
                <a:solidFill>
                  <a:srgbClr val="000000"/>
                </a:solidFill>
              </a:rPr>
              <a:t>Un corte al azar metería flujos del mismo laboratorio en los dos lados. El número saldría más alto y no diría si el modelo viaja a otra área.</a:t>
            </a:r>
            <a:endParaRPr lang="en-US" sz="1800" dirty="0"/>
          </a:p>
        </p:txBody>
      </p:sp>
      <p:sp>
        <p:nvSpPr>
          <p:cNvPr id="8" name="Text 6"/>
          <p:cNvSpPr txBox="1"/>
          <p:nvPr/>
        </p:nvSpPr>
        <p:spPr>
          <a:xfrm>
            <a:off x="502920" y="5120640"/>
            <a:ext cx="11155680" cy="914400"/>
          </a:xfrm>
          <a:prstGeom prst="rect">
            <a:avLst/>
          </a:prstGeom>
          <a:noFill/>
          <a:ln/>
        </p:spPr>
        <p:txBody>
          <a:bodyPr wrap="square" lIns="0" tIns="0" rIns="0" bIns="0" rtlCol="0" anchor="ctr"/>
          <a:lstStyle/>
          <a:p>
            <a:pPr indent="0" marL="0">
              <a:buNone/>
            </a:pPr>
            <a:r>
              <a:rPr lang="en-US" sz="1800" dirty="0">
                <a:solidFill>
                  <a:srgbClr val="000000"/>
                </a:solidFill>
              </a:rPr>
              <a:t>Bosque aleatorio, 200 árboles, peso por clase. SYN es enorme: sin ese peso, el modelo se inclinaría a llamarlo todo SYN.</a:t>
            </a:r>
            <a:endParaRPr lang="en-US" sz="18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Desempeño por clase</a:t>
            </a:r>
            <a:endParaRPr lang="en-US" sz="2900" dirty="0"/>
          </a:p>
        </p:txBody>
      </p:sp>
      <p:sp>
        <p:nvSpPr>
          <p:cNvPr id="3" name="Text 1"/>
          <p:cNvSpPr txBox="1"/>
          <p:nvPr/>
        </p:nvSpPr>
        <p:spPr>
          <a:xfrm>
            <a:off x="502920" y="1051560"/>
            <a:ext cx="11155680" cy="457200"/>
          </a:xfrm>
          <a:prstGeom prst="rect">
            <a:avLst/>
          </a:prstGeom>
          <a:noFill/>
          <a:ln/>
        </p:spPr>
        <p:txBody>
          <a:bodyPr wrap="square" lIns="0" tIns="0" rIns="0" bIns="0" rtlCol="0" anchor="ctr"/>
          <a:lstStyle/>
          <a:p>
            <a:pPr indent="0" marL="0">
              <a:buNone/>
            </a:pPr>
            <a:r>
              <a:rPr lang="en-US" sz="1800" dirty="0">
                <a:solidFill>
                  <a:srgbClr val="3E5C4C"/>
                </a:solidFill>
              </a:rPr>
              <a:t>F1 macro 0,979 en Agrarias. Binario, benigno contra ataque, 0,970.</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55680" cy="4206240"/>
        </p:xfrm>
        <a:graphic>
          <a:graphicData uri="http://schemas.openxmlformats.org/drawingml/2006/table">
            <a:tbl>
              <a:tblPr/>
              <a:tblGrid>
                <a:gridCol w="2011680"/>
                <a:gridCol w="1554480"/>
                <a:gridCol w="1463040"/>
                <a:gridCol w="1371600"/>
                <a:gridCol w="2286000"/>
                <a:gridCol w="2468880"/>
              </a:tblGrid>
              <a:tr h="585216">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Clase</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Precisión</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Recall</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F1</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Flujos en la prueba</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Lectura</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5539"/>
                    </a:solidFill>
                  </a:tcPr>
                </a:tc>
              </a:tr>
              <a:tr h="585216">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BENIGN</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0,956</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0,949</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0,953</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1.775</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Se distingue</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85216">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HTTP flood</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0,939</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0,947</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0,943</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1.458</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Se distingue</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85216">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Slowloris</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126</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Se distingue</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85216">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SYN flood</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4.708</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Se distingue</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85216">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ICMP</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ctr" indent="0" marL="0">
                        <a:buNone/>
                      </a:pPr>
                      <a:r>
                        <a:rPr lang="en-US" sz="1500" dirty="0">
                          <a:solidFill>
                            <a:srgbClr val="12261C"/>
                          </a:solidFill>
                          <a:latin typeface="Calibri" pitchFamily="34" charset="0"/>
                          <a:ea typeface="Calibri" pitchFamily="34" charset="-122"/>
                          <a:cs typeface="Calibri" pitchFamily="34" charset="-120"/>
                        </a:rPr>
                        <a:t>24</a:t>
                      </a:r>
                      <a:endParaRPr lang="en-US" sz="1500" dirty="0">
                        <a:latin typeface="Calibri" charset="0"/>
                        <a:ea typeface="Calibri" charset="0"/>
                        <a:cs typeface="Calibri" charset="0"/>
                      </a:endParaRPr>
                    </a:p>
                  </a:txBody>
                  <a:tcPr marL="76200" marR="762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5"/>
                    </a:solidFill>
                  </a:tcPr>
                </a:tc>
                <a:tc>
                  <a:txBody>
                    <a:bodyPr/>
                    <a:lstStyle/>
                    <a:p>
                      <a:pPr algn="l" indent="0" marL="0">
                        <a:buNone/>
                      </a:pPr>
                      <a:r>
                        <a:rPr lang="en-US" sz="1500" dirty="0">
                          <a:solidFill>
                            <a:srgbClr val="12261C"/>
                          </a:solidFill>
                          <a:latin typeface="Calibri" pitchFamily="34" charset="0"/>
                          <a:ea typeface="Calibri" pitchFamily="34" charset="-122"/>
                          <a:cs typeface="Calibri" pitchFamily="34" charset="-120"/>
                        </a:rPr>
                        <a:t>No se afirma</a:t>
                      </a:r>
                      <a:endParaRPr lang="en-US" sz="1500" dirty="0">
                        <a:latin typeface="Calibri" charset="0"/>
                        <a:ea typeface="Calibri" charset="0"/>
                        <a:cs typeface="Calibri" charset="0"/>
                      </a:endParaRPr>
                    </a:p>
                  </a:txBody>
                  <a:tcPr marL="1270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Importancia de características</a:t>
            </a:r>
            <a:endParaRPr lang="en-US" sz="2900" dirty="0"/>
          </a:p>
        </p:txBody>
      </p:sp>
      <p:pic>
        <p:nvPicPr>
          <p:cNvPr id="3" name="Image 0" descr="/Users/alessandro/Project/UNCP/sdn-ddos-multiclass-detection/expo/img/importancia.png">    </p:cNvPr>
          <p:cNvPicPr>
            <a:picLocks noChangeAspect="1"/>
          </p:cNvPicPr>
          <p:nvPr/>
        </p:nvPicPr>
        <p:blipFill>
          <a:blip r:embed="rId1"/>
          <a:stretch>
            <a:fillRect/>
          </a:stretch>
        </p:blipFill>
        <p:spPr>
          <a:xfrm>
            <a:off x="365760" y="1051560"/>
            <a:ext cx="7132320" cy="4937760"/>
          </a:xfrm>
          <a:prstGeom prst="rect">
            <a:avLst/>
          </a:prstGeom>
        </p:spPr>
      </p:pic>
      <p:sp>
        <p:nvSpPr>
          <p:cNvPr id="4" name="Text 1"/>
          <p:cNvSpPr txBox="1"/>
          <p:nvPr/>
        </p:nvSpPr>
        <p:spPr>
          <a:xfrm>
            <a:off x="7680960" y="1371600"/>
            <a:ext cx="4023360" cy="1280160"/>
          </a:xfrm>
          <a:prstGeom prst="rect">
            <a:avLst/>
          </a:prstGeom>
          <a:noFill/>
          <a:ln/>
        </p:spPr>
        <p:txBody>
          <a:bodyPr wrap="square" lIns="0" tIns="0" rIns="0" bIns="0" rtlCol="0" anchor="ctr"/>
          <a:lstStyle/>
          <a:p>
            <a:pPr indent="0" marL="0">
              <a:buNone/>
            </a:pPr>
            <a:r>
              <a:rPr lang="en-US" sz="1800" dirty="0">
                <a:solidFill>
                  <a:srgbClr val="000000"/>
                </a:solidFill>
              </a:rPr>
              <a:t>No mira direcciones. Mira el tamaño de lo que va hacia el portal.</a:t>
            </a:r>
            <a:endParaRPr lang="en-US" sz="1800" dirty="0"/>
          </a:p>
        </p:txBody>
      </p:sp>
      <p:sp>
        <p:nvSpPr>
          <p:cNvPr id="5" name="Text 2"/>
          <p:cNvSpPr txBox="1"/>
          <p:nvPr/>
        </p:nvSpPr>
        <p:spPr>
          <a:xfrm>
            <a:off x="7680960" y="2880360"/>
            <a:ext cx="4023360" cy="1554480"/>
          </a:xfrm>
          <a:prstGeom prst="rect">
            <a:avLst/>
          </a:prstGeom>
          <a:noFill/>
          <a:ln/>
        </p:spPr>
        <p:txBody>
          <a:bodyPr wrap="square" lIns="0" tIns="0" rIns="0" bIns="0" rtlCol="0" anchor="ctr"/>
          <a:lstStyle/>
          <a:p>
            <a:pPr indent="0" marL="0">
              <a:buNone/>
            </a:pPr>
            <a:r>
              <a:rPr lang="en-US" sz="1800" dirty="0">
                <a:solidFill>
                  <a:srgbClr val="000000"/>
                </a:solidFill>
              </a:rPr>
              <a:t>La primera columna es el tamaño medio del segmento de ida. Después vienen la media y el máximo del paquete de ida.</a:t>
            </a:r>
            <a:endParaRPr lang="en-US" sz="1800" dirty="0"/>
          </a:p>
        </p:txBody>
      </p:sp>
      <p:sp>
        <p:nvSpPr>
          <p:cNvPr id="6" name="Text 3"/>
          <p:cNvSpPr txBox="1"/>
          <p:nvPr/>
        </p:nvSpPr>
        <p:spPr>
          <a:xfrm>
            <a:off x="7680960" y="4617720"/>
            <a:ext cx="4023360" cy="1371600"/>
          </a:xfrm>
          <a:prstGeom prst="rect">
            <a:avLst/>
          </a:prstGeom>
          <a:noFill/>
          <a:ln/>
        </p:spPr>
        <p:txBody>
          <a:bodyPr wrap="square" lIns="0" tIns="0" rIns="0" bIns="0" rtlCol="0" anchor="ctr"/>
          <a:lstStyle/>
          <a:p>
            <a:pPr indent="0" marL="0">
              <a:buNone/>
            </a:pPr>
            <a:r>
              <a:rPr lang="en-US" sz="1800" dirty="0">
                <a:solidFill>
                  <a:srgbClr val="000000"/>
                </a:solidFill>
              </a:rPr>
              <a:t>Tiene sentido: un SYN casi no lleva datos. Un GET del alumno sí. Slowloris mantiene poco y lento.</a:t>
            </a:r>
            <a:endParaRPr lang="en-US" sz="18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Resultados preliminares</a:t>
            </a:r>
            <a:endParaRPr lang="en-US" sz="2900" dirty="0"/>
          </a:p>
        </p:txBody>
      </p:sp>
      <p:sp>
        <p:nvSpPr>
          <p:cNvPr id="3" name="Text 1"/>
          <p:cNvSpPr txBox="1"/>
          <p:nvPr/>
        </p:nvSpPr>
        <p:spPr>
          <a:xfrm>
            <a:off x="502920" y="1143000"/>
            <a:ext cx="4937760" cy="105156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0,979</a:t>
            </a:r>
            <a:endParaRPr lang="en-US" sz="5400" dirty="0"/>
          </a:p>
        </p:txBody>
      </p:sp>
      <p:sp>
        <p:nvSpPr>
          <p:cNvPr id="4" name="Text 2"/>
          <p:cNvSpPr txBox="1"/>
          <p:nvPr/>
        </p:nvSpPr>
        <p:spPr>
          <a:xfrm>
            <a:off x="502920" y="2286000"/>
            <a:ext cx="5120640" cy="1051560"/>
          </a:xfrm>
          <a:prstGeom prst="rect">
            <a:avLst/>
          </a:prstGeom>
          <a:noFill/>
          <a:ln/>
        </p:spPr>
        <p:txBody>
          <a:bodyPr wrap="square" lIns="0" tIns="0" rIns="0" bIns="0" rtlCol="0" anchor="ctr"/>
          <a:lstStyle/>
          <a:p>
            <a:pPr indent="0" marL="0">
              <a:buNone/>
            </a:pPr>
            <a:r>
              <a:rPr lang="en-US" sz="1800" dirty="0">
                <a:solidFill>
                  <a:srgbClr val="000000"/>
                </a:solidFill>
              </a:rPr>
              <a:t>F1 macro. Es la base que ya está medida.</a:t>
            </a:r>
            <a:endParaRPr lang="en-US" sz="1800" dirty="0"/>
          </a:p>
          <a:p>
            <a:pPr indent="0" marL="0">
              <a:buNone/>
            </a:pPr>
            <a:r>
              <a:rPr lang="en-US" sz="1800" dirty="0">
                <a:solidFill>
                  <a:srgbClr val="000000"/>
                </a:solidFill>
              </a:rPr>
              <a:t>Todavía no es el escaneo del campus.</a:t>
            </a:r>
            <a:endParaRPr lang="en-US" sz="1800" dirty="0"/>
          </a:p>
        </p:txBody>
      </p:sp>
      <p:sp>
        <p:nvSpPr>
          <p:cNvPr id="5" name="Text 3"/>
          <p:cNvSpPr txBox="1"/>
          <p:nvPr/>
        </p:nvSpPr>
        <p:spPr>
          <a:xfrm>
            <a:off x="5943600" y="1234440"/>
            <a:ext cx="5669280" cy="384048"/>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La página</a:t>
            </a:r>
            <a:endParaRPr lang="en-US" sz="2000" dirty="0"/>
          </a:p>
        </p:txBody>
      </p:sp>
      <p:sp>
        <p:nvSpPr>
          <p:cNvPr id="6" name="Text 4"/>
          <p:cNvSpPr txBox="1"/>
          <p:nvPr/>
        </p:nvSpPr>
        <p:spPr>
          <a:xfrm>
            <a:off x="5943600" y="1673352"/>
            <a:ext cx="5669280" cy="868680"/>
          </a:xfrm>
          <a:prstGeom prst="rect">
            <a:avLst/>
          </a:prstGeom>
          <a:noFill/>
          <a:ln/>
        </p:spPr>
        <p:txBody>
          <a:bodyPr wrap="square" lIns="0" tIns="0" rIns="0" bIns="0" rtlCol="0" anchor="ctr"/>
          <a:lstStyle/>
          <a:p>
            <a:pPr indent="0" marL="0">
              <a:buNone/>
            </a:pPr>
            <a:r>
              <a:rPr lang="en-US" sz="1600" dirty="0">
                <a:solidFill>
                  <a:srgbClr val="3E5C4C"/>
                </a:solidFill>
              </a:rPr>
              <a:t>Solo Slowloris la tumba: 1 de 118 abre. HTTP la pasa de 407 ms a 564 ms.</a:t>
            </a:r>
            <a:endParaRPr lang="en-US" sz="1600" dirty="0"/>
          </a:p>
        </p:txBody>
      </p:sp>
      <p:sp>
        <p:nvSpPr>
          <p:cNvPr id="7" name="Text 5"/>
          <p:cNvSpPr txBox="1"/>
          <p:nvPr/>
        </p:nvSpPr>
        <p:spPr>
          <a:xfrm>
            <a:off x="5943600" y="2788920"/>
            <a:ext cx="5669280" cy="384048"/>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El modelo</a:t>
            </a:r>
            <a:endParaRPr lang="en-US" sz="2000" dirty="0"/>
          </a:p>
        </p:txBody>
      </p:sp>
      <p:sp>
        <p:nvSpPr>
          <p:cNvPr id="8" name="Text 6"/>
          <p:cNvSpPr txBox="1"/>
          <p:nvPr/>
        </p:nvSpPr>
        <p:spPr>
          <a:xfrm>
            <a:off x="5943600" y="3227832"/>
            <a:ext cx="5669280" cy="868680"/>
          </a:xfrm>
          <a:prstGeom prst="rect">
            <a:avLst/>
          </a:prstGeom>
          <a:noFill/>
          <a:ln/>
        </p:spPr>
        <p:txBody>
          <a:bodyPr wrap="square" lIns="0" tIns="0" rIns="0" bIns="0" rtlCol="0" anchor="ctr"/>
          <a:lstStyle/>
          <a:p>
            <a:pPr indent="0" marL="0">
              <a:buNone/>
            </a:pPr>
            <a:r>
              <a:rPr lang="en-US" sz="1600" dirty="0">
                <a:solidFill>
                  <a:srgbClr val="3E5C4C"/>
                </a:solidFill>
              </a:rPr>
              <a:t>BENIGN, HTTP, Slowloris y SYN se separan en Agrarias, sin usar la IP.</a:t>
            </a:r>
            <a:endParaRPr lang="en-US" sz="1600" dirty="0"/>
          </a:p>
        </p:txBody>
      </p:sp>
      <p:sp>
        <p:nvSpPr>
          <p:cNvPr id="9" name="Text 7"/>
          <p:cNvSpPr txBox="1"/>
          <p:nvPr/>
        </p:nvSpPr>
        <p:spPr>
          <a:xfrm>
            <a:off x="5943600" y="4343400"/>
            <a:ext cx="5669280" cy="384048"/>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La mezcla</a:t>
            </a:r>
            <a:endParaRPr lang="en-US" sz="2000" dirty="0"/>
          </a:p>
        </p:txBody>
      </p:sp>
      <p:sp>
        <p:nvSpPr>
          <p:cNvPr id="10" name="Text 8"/>
          <p:cNvSpPr txBox="1"/>
          <p:nvPr/>
        </p:nvSpPr>
        <p:spPr>
          <a:xfrm>
            <a:off x="5943600" y="4782312"/>
            <a:ext cx="5669280" cy="868680"/>
          </a:xfrm>
          <a:prstGeom prst="rect">
            <a:avLst/>
          </a:prstGeom>
          <a:noFill/>
          <a:ln/>
        </p:spPr>
        <p:txBody>
          <a:bodyPr wrap="square" lIns="0" tIns="0" rIns="0" bIns="0" rtlCol="0" anchor="ctr"/>
          <a:lstStyle/>
          <a:p>
            <a:pPr indent="0" marL="0">
              <a:buNone/>
            </a:pPr>
            <a:r>
              <a:rPr lang="en-US" sz="1600" dirty="0">
                <a:solidFill>
                  <a:srgbClr val="3E5C4C"/>
                </a:solidFill>
              </a:rPr>
              <a:t>El alumno sigue dentro del mismo archivo. 40.877 flujos, 120 segundos por escenario.</a:t>
            </a:r>
            <a:endParaRPr lang="en-US" sz="16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Limitaciones</a:t>
            </a:r>
            <a:endParaRPr lang="en-US" sz="2900" dirty="0"/>
          </a:p>
        </p:txBody>
      </p:sp>
      <p:sp>
        <p:nvSpPr>
          <p:cNvPr id="3" name="Text 1"/>
          <p:cNvSpPr txBox="1"/>
          <p:nvPr/>
        </p:nvSpPr>
        <p:spPr>
          <a:xfrm>
            <a:off x="502920" y="1143000"/>
            <a:ext cx="11155680" cy="384048"/>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Es una prueba en casa</a:t>
            </a:r>
            <a:endParaRPr lang="en-US" sz="2000" dirty="0"/>
          </a:p>
        </p:txBody>
      </p:sp>
      <p:sp>
        <p:nvSpPr>
          <p:cNvPr id="4" name="Text 2"/>
          <p:cNvSpPr txBox="1"/>
          <p:nvPr/>
        </p:nvSpPr>
        <p:spPr>
          <a:xfrm>
            <a:off x="502920" y="1563624"/>
            <a:ext cx="11155680" cy="640080"/>
          </a:xfrm>
          <a:prstGeom prst="rect">
            <a:avLst/>
          </a:prstGeom>
          <a:noFill/>
          <a:ln/>
        </p:spPr>
        <p:txBody>
          <a:bodyPr wrap="square" lIns="0" tIns="0" rIns="0" bIns="0" rtlCol="0" anchor="ctr"/>
          <a:lstStyle/>
          <a:p>
            <a:pPr indent="0" marL="0">
              <a:buNone/>
            </a:pPr>
            <a:r>
              <a:rPr lang="en-US" sz="1800" dirty="0">
                <a:solidFill>
                  <a:srgbClr val="000000"/>
                </a:solidFill>
              </a:rPr>
              <a:t>Los alumnos están emulados. Sirve para proponer el trabajo. No reemplaza el escaneo que se pedirá.</a:t>
            </a:r>
            <a:endParaRPr lang="en-US" sz="1800" dirty="0"/>
          </a:p>
        </p:txBody>
      </p:sp>
      <p:sp>
        <p:nvSpPr>
          <p:cNvPr id="5" name="Text 3"/>
          <p:cNvSpPr txBox="1"/>
          <p:nvPr/>
        </p:nvSpPr>
        <p:spPr>
          <a:xfrm>
            <a:off x="502920" y="2423160"/>
            <a:ext cx="11155680" cy="384048"/>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ICMP no se afirma</a:t>
            </a:r>
            <a:endParaRPr lang="en-US" sz="2000" dirty="0"/>
          </a:p>
        </p:txBody>
      </p:sp>
      <p:sp>
        <p:nvSpPr>
          <p:cNvPr id="6" name="Text 4"/>
          <p:cNvSpPr txBox="1"/>
          <p:nvPr/>
        </p:nvSpPr>
        <p:spPr>
          <a:xfrm>
            <a:off x="502920" y="2843784"/>
            <a:ext cx="11155680" cy="640080"/>
          </a:xfrm>
          <a:prstGeom prst="rect">
            <a:avLst/>
          </a:prstGeom>
          <a:noFill/>
          <a:ln/>
        </p:spPr>
        <p:txBody>
          <a:bodyPr wrap="square" lIns="0" tIns="0" rIns="0" bIns="0" rtlCol="0" anchor="ctr"/>
          <a:lstStyle/>
          <a:p>
            <a:pPr indent="0" marL="0">
              <a:buNone/>
            </a:pPr>
            <a:r>
              <a:rPr lang="en-US" sz="1800" dirty="0">
                <a:solidFill>
                  <a:srgbClr val="000000"/>
                </a:solidFill>
              </a:rPr>
              <a:t>En Agrarias hay 24 flujos. El F1 de 1,000 de esa clase no se presenta como resultado.</a:t>
            </a:r>
            <a:endParaRPr lang="en-US" sz="1800" dirty="0"/>
          </a:p>
        </p:txBody>
      </p:sp>
      <p:sp>
        <p:nvSpPr>
          <p:cNvPr id="7" name="Text 5"/>
          <p:cNvSpPr txBox="1"/>
          <p:nvPr/>
        </p:nvSpPr>
        <p:spPr>
          <a:xfrm>
            <a:off x="502920" y="3703320"/>
            <a:ext cx="11155680" cy="384048"/>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No corre en vivo</a:t>
            </a:r>
            <a:endParaRPr lang="en-US" sz="2000" dirty="0"/>
          </a:p>
        </p:txBody>
      </p:sp>
      <p:sp>
        <p:nvSpPr>
          <p:cNvPr id="8" name="Text 6"/>
          <p:cNvSpPr txBox="1"/>
          <p:nvPr/>
        </p:nvSpPr>
        <p:spPr>
          <a:xfrm>
            <a:off x="502920" y="4123944"/>
            <a:ext cx="11155680" cy="640080"/>
          </a:xfrm>
          <a:prstGeom prst="rect">
            <a:avLst/>
          </a:prstGeom>
          <a:noFill/>
          <a:ln/>
        </p:spPr>
        <p:txBody>
          <a:bodyPr wrap="square" lIns="0" tIns="0" rIns="0" bIns="0" rtlCol="0" anchor="ctr"/>
          <a:lstStyle/>
          <a:p>
            <a:pPr indent="0" marL="0">
              <a:buNone/>
            </a:pPr>
            <a:r>
              <a:rPr lang="en-US" sz="1800" dirty="0">
                <a:solidFill>
                  <a:srgbClr val="000000"/>
                </a:solidFill>
              </a:rPr>
              <a:t>El bosque lee flujos ya capturados. No está dentro de Ryu ni corta el ataque.</a:t>
            </a:r>
            <a:endParaRPr lang="en-US" sz="1800" dirty="0"/>
          </a:p>
        </p:txBody>
      </p:sp>
      <p:sp>
        <p:nvSpPr>
          <p:cNvPr id="9" name="Text 7"/>
          <p:cNvSpPr txBox="1"/>
          <p:nvPr/>
        </p:nvSpPr>
        <p:spPr>
          <a:xfrm>
            <a:off x="502920" y="4983480"/>
            <a:ext cx="11155680" cy="384048"/>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Falta el fondo real</a:t>
            </a:r>
            <a:endParaRPr lang="en-US" sz="2000" dirty="0"/>
          </a:p>
        </p:txBody>
      </p:sp>
      <p:sp>
        <p:nvSpPr>
          <p:cNvPr id="10" name="Text 8"/>
          <p:cNvSpPr txBox="1"/>
          <p:nvPr/>
        </p:nvSpPr>
        <p:spPr>
          <a:xfrm>
            <a:off x="502920" y="5404104"/>
            <a:ext cx="11155680" cy="640080"/>
          </a:xfrm>
          <a:prstGeom prst="rect">
            <a:avLst/>
          </a:prstGeom>
          <a:noFill/>
          <a:ln/>
        </p:spPr>
        <p:txBody>
          <a:bodyPr wrap="square" lIns="0" tIns="0" rIns="0" bIns="0" rtlCol="0" anchor="ctr"/>
          <a:lstStyle/>
          <a:p>
            <a:pPr indent="0" marL="0">
              <a:buNone/>
            </a:pPr>
            <a:r>
              <a:rPr lang="en-US" sz="1800" dirty="0">
                <a:solidFill>
                  <a:srgbClr val="000000"/>
                </a:solidFill>
              </a:rPr>
              <a:t>El pipeline híbrido está escrito. Entra cuando el encargado entregue los pcap autorizados.</a:t>
            </a:r>
            <a:endParaRPr lang="en-US" sz="18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Fase 2: validación autorizada</a:t>
            </a:r>
            <a:endParaRPr lang="en-US" sz="2900" dirty="0"/>
          </a:p>
        </p:txBody>
      </p:sp>
      <p:sp>
        <p:nvSpPr>
          <p:cNvPr id="3" name="Text 1"/>
          <p:cNvSpPr txBox="1"/>
          <p:nvPr/>
        </p:nvSpPr>
        <p:spPr>
          <a:xfrm>
            <a:off x="502920" y="1143000"/>
            <a:ext cx="731520" cy="438912"/>
          </a:xfrm>
          <a:prstGeom prst="rect">
            <a:avLst/>
          </a:prstGeom>
          <a:noFill/>
          <a:ln/>
        </p:spPr>
        <p:txBody>
          <a:bodyPr wrap="square" lIns="0" tIns="0" rIns="0" bIns="0" rtlCol="0" anchor="ctr"/>
          <a:lstStyle/>
          <a:p>
            <a:pPr indent="0" marL="0">
              <a:buNone/>
            </a:pPr>
            <a:r>
              <a:rPr lang="en-US" sz="2300" b="1" dirty="0">
                <a:solidFill>
                  <a:schemeClr val="accent1"/>
                </a:solidFill>
                <a:latin typeface="Arial" pitchFamily="34" charset="0"/>
                <a:ea typeface="Arial" pitchFamily="34" charset="-122"/>
                <a:cs typeface="Arial" pitchFamily="34" charset="-120"/>
              </a:rPr>
              <a:t>01</a:t>
            </a:r>
            <a:endParaRPr lang="en-US" sz="2300" dirty="0"/>
          </a:p>
        </p:txBody>
      </p:sp>
      <p:sp>
        <p:nvSpPr>
          <p:cNvPr id="4" name="Text 2"/>
          <p:cNvSpPr txBox="1"/>
          <p:nvPr/>
        </p:nvSpPr>
        <p:spPr>
          <a:xfrm>
            <a:off x="1417320" y="1143000"/>
            <a:ext cx="2011680" cy="411480"/>
          </a:xfrm>
          <a:prstGeom prst="rect">
            <a:avLst/>
          </a:prstGeom>
          <a:noFill/>
          <a:ln/>
        </p:spPr>
        <p:txBody>
          <a:bodyPr wrap="square" lIns="0" tIns="0" rIns="0" bIns="0" rtlCol="0" anchor="ctr"/>
          <a:lstStyle/>
          <a:p>
            <a:pPr indent="0" marL="0">
              <a:buNone/>
            </a:pPr>
            <a:r>
              <a:rPr lang="en-US" sz="1900" b="1" dirty="0">
                <a:solidFill>
                  <a:srgbClr val="000000"/>
                </a:solidFill>
                <a:latin typeface="Arial" pitchFamily="34" charset="0"/>
                <a:ea typeface="Arial" pitchFamily="34" charset="-122"/>
                <a:cs typeface="Arial" pitchFamily="34" charset="-120"/>
              </a:rPr>
              <a:t>Capturar</a:t>
            </a:r>
            <a:endParaRPr lang="en-US" sz="1900" dirty="0"/>
          </a:p>
        </p:txBody>
      </p:sp>
      <p:sp>
        <p:nvSpPr>
          <p:cNvPr id="5" name="Text 3"/>
          <p:cNvSpPr txBox="1"/>
          <p:nvPr/>
        </p:nvSpPr>
        <p:spPr>
          <a:xfrm>
            <a:off x="3566160" y="1143000"/>
            <a:ext cx="8046720" cy="777240"/>
          </a:xfrm>
          <a:prstGeom prst="rect">
            <a:avLst/>
          </a:prstGeom>
          <a:noFill/>
          <a:ln/>
        </p:spPr>
        <p:txBody>
          <a:bodyPr wrap="square" lIns="0" tIns="0" rIns="0" bIns="0" rtlCol="0" anchor="ctr"/>
          <a:lstStyle/>
          <a:p>
            <a:pPr indent="0" marL="0">
              <a:buNone/>
            </a:pPr>
            <a:r>
              <a:rPr lang="en-US" sz="1800" dirty="0">
                <a:solidFill>
                  <a:srgbClr val="000000"/>
                </a:solidFill>
              </a:rPr>
              <a:t>Uno a tres pcap benignos, de 10 a 30 minutos, en un segmento que defina el encargado.</a:t>
            </a:r>
            <a:endParaRPr lang="en-US" sz="1800" dirty="0"/>
          </a:p>
        </p:txBody>
      </p:sp>
      <p:sp>
        <p:nvSpPr>
          <p:cNvPr id="6" name="Text 4"/>
          <p:cNvSpPr txBox="1"/>
          <p:nvPr/>
        </p:nvSpPr>
        <p:spPr>
          <a:xfrm>
            <a:off x="502920" y="2377440"/>
            <a:ext cx="731520" cy="438912"/>
          </a:xfrm>
          <a:prstGeom prst="rect">
            <a:avLst/>
          </a:prstGeom>
          <a:noFill/>
          <a:ln/>
        </p:spPr>
        <p:txBody>
          <a:bodyPr wrap="square" lIns="0" tIns="0" rIns="0" bIns="0" rtlCol="0" anchor="ctr"/>
          <a:lstStyle/>
          <a:p>
            <a:pPr indent="0" marL="0">
              <a:buNone/>
            </a:pPr>
            <a:r>
              <a:rPr lang="en-US" sz="2300" b="1" dirty="0">
                <a:solidFill>
                  <a:schemeClr val="accent1"/>
                </a:solidFill>
                <a:latin typeface="Arial" pitchFamily="34" charset="0"/>
                <a:ea typeface="Arial" pitchFamily="34" charset="-122"/>
                <a:cs typeface="Arial" pitchFamily="34" charset="-120"/>
              </a:rPr>
              <a:t>02</a:t>
            </a:r>
            <a:endParaRPr lang="en-US" sz="2300" dirty="0"/>
          </a:p>
        </p:txBody>
      </p:sp>
      <p:sp>
        <p:nvSpPr>
          <p:cNvPr id="7" name="Text 5"/>
          <p:cNvSpPr txBox="1"/>
          <p:nvPr/>
        </p:nvSpPr>
        <p:spPr>
          <a:xfrm>
            <a:off x="1417320" y="2377440"/>
            <a:ext cx="2011680" cy="411480"/>
          </a:xfrm>
          <a:prstGeom prst="rect">
            <a:avLst/>
          </a:prstGeom>
          <a:noFill/>
          <a:ln/>
        </p:spPr>
        <p:txBody>
          <a:bodyPr wrap="square" lIns="0" tIns="0" rIns="0" bIns="0" rtlCol="0" anchor="ctr"/>
          <a:lstStyle/>
          <a:p>
            <a:pPr indent="0" marL="0">
              <a:buNone/>
            </a:pPr>
            <a:r>
              <a:rPr lang="en-US" sz="1900" b="1" dirty="0">
                <a:solidFill>
                  <a:srgbClr val="000000"/>
                </a:solidFill>
                <a:latin typeface="Arial" pitchFamily="34" charset="0"/>
                <a:ea typeface="Arial" pitchFamily="34" charset="-122"/>
                <a:cs typeface="Arial" pitchFamily="34" charset="-120"/>
              </a:rPr>
              <a:t>Anonimizar</a:t>
            </a:r>
            <a:endParaRPr lang="en-US" sz="1900" dirty="0"/>
          </a:p>
        </p:txBody>
      </p:sp>
      <p:sp>
        <p:nvSpPr>
          <p:cNvPr id="8" name="Text 6"/>
          <p:cNvSpPr txBox="1"/>
          <p:nvPr/>
        </p:nvSpPr>
        <p:spPr>
          <a:xfrm>
            <a:off x="3566160" y="2377440"/>
            <a:ext cx="8046720" cy="777240"/>
          </a:xfrm>
          <a:prstGeom prst="rect">
            <a:avLst/>
          </a:prstGeom>
          <a:noFill/>
          <a:ln/>
        </p:spPr>
        <p:txBody>
          <a:bodyPr wrap="square" lIns="0" tIns="0" rIns="0" bIns="0" rtlCol="0" anchor="ctr"/>
          <a:lstStyle/>
          <a:p>
            <a:pPr indent="0" marL="0">
              <a:buNone/>
            </a:pPr>
            <a:r>
              <a:rPr lang="en-US" sz="1800" dirty="0">
                <a:solidFill>
                  <a:srgbClr val="000000"/>
                </a:solidFill>
              </a:rPr>
              <a:t>Cambiar las direcciones antes de entrenar. No publicar usuarios ni contenido.</a:t>
            </a:r>
            <a:endParaRPr lang="en-US" sz="1800" dirty="0"/>
          </a:p>
        </p:txBody>
      </p:sp>
      <p:sp>
        <p:nvSpPr>
          <p:cNvPr id="9" name="Text 7"/>
          <p:cNvSpPr txBox="1"/>
          <p:nvPr/>
        </p:nvSpPr>
        <p:spPr>
          <a:xfrm>
            <a:off x="502920" y="3611880"/>
            <a:ext cx="731520" cy="438912"/>
          </a:xfrm>
          <a:prstGeom prst="rect">
            <a:avLst/>
          </a:prstGeom>
          <a:noFill/>
          <a:ln/>
        </p:spPr>
        <p:txBody>
          <a:bodyPr wrap="square" lIns="0" tIns="0" rIns="0" bIns="0" rtlCol="0" anchor="ctr"/>
          <a:lstStyle/>
          <a:p>
            <a:pPr indent="0" marL="0">
              <a:buNone/>
            </a:pPr>
            <a:r>
              <a:rPr lang="en-US" sz="2300" b="1" dirty="0">
                <a:solidFill>
                  <a:schemeClr val="accent1"/>
                </a:solidFill>
                <a:latin typeface="Arial" pitchFamily="34" charset="0"/>
                <a:ea typeface="Arial" pitchFamily="34" charset="-122"/>
                <a:cs typeface="Arial" pitchFamily="34" charset="-120"/>
              </a:rPr>
              <a:t>03</a:t>
            </a:r>
            <a:endParaRPr lang="en-US" sz="2300" dirty="0"/>
          </a:p>
        </p:txBody>
      </p:sp>
      <p:sp>
        <p:nvSpPr>
          <p:cNvPr id="10" name="Text 8"/>
          <p:cNvSpPr txBox="1"/>
          <p:nvPr/>
        </p:nvSpPr>
        <p:spPr>
          <a:xfrm>
            <a:off x="1417320" y="3611880"/>
            <a:ext cx="2011680" cy="411480"/>
          </a:xfrm>
          <a:prstGeom prst="rect">
            <a:avLst/>
          </a:prstGeom>
          <a:noFill/>
          <a:ln/>
        </p:spPr>
        <p:txBody>
          <a:bodyPr wrap="square" lIns="0" tIns="0" rIns="0" bIns="0" rtlCol="0" anchor="ctr"/>
          <a:lstStyle/>
          <a:p>
            <a:pPr indent="0" marL="0">
              <a:buNone/>
            </a:pPr>
            <a:r>
              <a:rPr lang="en-US" sz="1900" b="1" dirty="0">
                <a:solidFill>
                  <a:srgbClr val="000000"/>
                </a:solidFill>
                <a:latin typeface="Arial" pitchFamily="34" charset="0"/>
                <a:ea typeface="Arial" pitchFamily="34" charset="-122"/>
                <a:cs typeface="Arial" pitchFamily="34" charset="-120"/>
              </a:rPr>
              <a:t>Mezclar</a:t>
            </a:r>
            <a:endParaRPr lang="en-US" sz="1900" dirty="0"/>
          </a:p>
        </p:txBody>
      </p:sp>
      <p:sp>
        <p:nvSpPr>
          <p:cNvPr id="11" name="Text 9"/>
          <p:cNvSpPr txBox="1"/>
          <p:nvPr/>
        </p:nvSpPr>
        <p:spPr>
          <a:xfrm>
            <a:off x="3566160" y="3611880"/>
            <a:ext cx="8046720" cy="777240"/>
          </a:xfrm>
          <a:prstGeom prst="rect">
            <a:avLst/>
          </a:prstGeom>
          <a:noFill/>
          <a:ln/>
        </p:spPr>
        <p:txBody>
          <a:bodyPr wrap="square" lIns="0" tIns="0" rIns="0" bIns="0" rtlCol="0" anchor="ctr"/>
          <a:lstStyle/>
          <a:p>
            <a:pPr indent="0" marL="0">
              <a:buNone/>
            </a:pPr>
            <a:r>
              <a:rPr lang="en-US" sz="1800" dirty="0">
                <a:solidFill>
                  <a:srgbClr val="000000"/>
                </a:solidFill>
              </a:rPr>
              <a:t>Unir ese fondo benigno con ataques que siguen ejecutándose solo dentro de Docker.</a:t>
            </a:r>
            <a:endParaRPr lang="en-US" sz="1800" dirty="0"/>
          </a:p>
        </p:txBody>
      </p:sp>
      <p:sp>
        <p:nvSpPr>
          <p:cNvPr id="12" name="Text 10"/>
          <p:cNvSpPr txBox="1"/>
          <p:nvPr/>
        </p:nvSpPr>
        <p:spPr>
          <a:xfrm>
            <a:off x="502920" y="4846320"/>
            <a:ext cx="731520" cy="438912"/>
          </a:xfrm>
          <a:prstGeom prst="rect">
            <a:avLst/>
          </a:prstGeom>
          <a:noFill/>
          <a:ln/>
        </p:spPr>
        <p:txBody>
          <a:bodyPr wrap="square" lIns="0" tIns="0" rIns="0" bIns="0" rtlCol="0" anchor="ctr"/>
          <a:lstStyle/>
          <a:p>
            <a:pPr indent="0" marL="0">
              <a:buNone/>
            </a:pPr>
            <a:r>
              <a:rPr lang="en-US" sz="2300" b="1" dirty="0">
                <a:solidFill>
                  <a:schemeClr val="accent1"/>
                </a:solidFill>
                <a:latin typeface="Arial" pitchFamily="34" charset="0"/>
                <a:ea typeface="Arial" pitchFamily="34" charset="-122"/>
                <a:cs typeface="Arial" pitchFamily="34" charset="-120"/>
              </a:rPr>
              <a:t>04</a:t>
            </a:r>
            <a:endParaRPr lang="en-US" sz="2300" dirty="0"/>
          </a:p>
        </p:txBody>
      </p:sp>
      <p:sp>
        <p:nvSpPr>
          <p:cNvPr id="13" name="Text 11"/>
          <p:cNvSpPr txBox="1"/>
          <p:nvPr/>
        </p:nvSpPr>
        <p:spPr>
          <a:xfrm>
            <a:off x="1417320" y="4846320"/>
            <a:ext cx="2011680" cy="411480"/>
          </a:xfrm>
          <a:prstGeom prst="rect">
            <a:avLst/>
          </a:prstGeom>
          <a:noFill/>
          <a:ln/>
        </p:spPr>
        <p:txBody>
          <a:bodyPr wrap="square" lIns="0" tIns="0" rIns="0" bIns="0" rtlCol="0" anchor="ctr"/>
          <a:lstStyle/>
          <a:p>
            <a:pPr indent="0" marL="0">
              <a:buNone/>
            </a:pPr>
            <a:r>
              <a:rPr lang="en-US" sz="1900" b="1" dirty="0">
                <a:solidFill>
                  <a:srgbClr val="000000"/>
                </a:solidFill>
                <a:latin typeface="Arial" pitchFamily="34" charset="0"/>
                <a:ea typeface="Arial" pitchFamily="34" charset="-122"/>
                <a:cs typeface="Arial" pitchFamily="34" charset="-120"/>
              </a:rPr>
              <a:t>Comparar</a:t>
            </a:r>
            <a:endParaRPr lang="en-US" sz="1900" dirty="0"/>
          </a:p>
        </p:txBody>
      </p:sp>
      <p:sp>
        <p:nvSpPr>
          <p:cNvPr id="14" name="Text 12"/>
          <p:cNvSpPr txBox="1"/>
          <p:nvPr/>
        </p:nvSpPr>
        <p:spPr>
          <a:xfrm>
            <a:off x="3566160" y="4846320"/>
            <a:ext cx="8046720" cy="777240"/>
          </a:xfrm>
          <a:prstGeom prst="rect">
            <a:avLst/>
          </a:prstGeom>
          <a:noFill/>
          <a:ln/>
        </p:spPr>
        <p:txBody>
          <a:bodyPr wrap="square" lIns="0" tIns="0" rIns="0" bIns="0" rtlCol="0" anchor="ctr"/>
          <a:lstStyle/>
          <a:p>
            <a:pPr indent="0" marL="0">
              <a:buNone/>
            </a:pPr>
            <a:r>
              <a:rPr lang="en-US" sz="1800" dirty="0">
                <a:solidFill>
                  <a:srgbClr val="000000"/>
                </a:solidFill>
              </a:rPr>
              <a:t>Repetir el holdout y reportar cuánto cambia el F1 respecto de la prueba en casa.</a:t>
            </a:r>
            <a:endParaRPr lang="en-US" sz="1800" dirty="0"/>
          </a:p>
        </p:txBody>
      </p:sp>
      <p:sp>
        <p:nvSpPr>
          <p:cNvPr id="15" name="Text 13"/>
          <p:cNvSpPr txBox="1"/>
          <p:nvPr/>
        </p:nvSpPr>
        <p:spPr>
          <a:xfrm>
            <a:off x="502920" y="5806440"/>
            <a:ext cx="11155680" cy="411480"/>
          </a:xfrm>
          <a:prstGeom prst="rect">
            <a:avLst/>
          </a:prstGeom>
          <a:noFill/>
          <a:ln/>
        </p:spPr>
        <p:txBody>
          <a:bodyPr wrap="square" lIns="0" tIns="0" rIns="0" bIns="0" rtlCol="0" anchor="ctr"/>
          <a:lstStyle/>
          <a:p>
            <a:pPr algn="ctr" indent="0" marL="0">
              <a:buNone/>
            </a:pPr>
            <a:r>
              <a:rPr lang="en-US" sz="1800" b="1" dirty="0">
                <a:solidFill>
                  <a:srgbClr val="8C2F2F"/>
                </a:solidFill>
              </a:rPr>
              <a:t>Restricción: ninguna inundación se ejecuta contra la red real.</a:t>
            </a:r>
            <a:endParaRPr lang="en-US" sz="18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Conclusiones</a:t>
            </a:r>
            <a:endParaRPr lang="en-US" sz="2900" dirty="0"/>
          </a:p>
        </p:txBody>
      </p:sp>
      <p:sp>
        <p:nvSpPr>
          <p:cNvPr id="3" name="Text 1"/>
          <p:cNvSpPr txBox="1"/>
          <p:nvPr/>
        </p:nvSpPr>
        <p:spPr>
          <a:xfrm>
            <a:off x="502920" y="1188720"/>
            <a:ext cx="640080" cy="502920"/>
          </a:xfrm>
          <a:prstGeom prst="rect">
            <a:avLst/>
          </a:prstGeom>
          <a:noFill/>
          <a:ln/>
        </p:spPr>
        <p:txBody>
          <a:bodyPr wrap="square" lIns="0" tIns="0" rIns="0" bIns="0" rtlCol="0" anchor="ctr"/>
          <a:lstStyle/>
          <a:p>
            <a:pPr indent="0" marL="0">
              <a:buNone/>
            </a:pPr>
            <a:r>
              <a:rPr lang="en-US" sz="2500" b="1" dirty="0">
                <a:solidFill>
                  <a:schemeClr val="accent1"/>
                </a:solidFill>
                <a:latin typeface="Arial" pitchFamily="34" charset="0"/>
                <a:ea typeface="Arial" pitchFamily="34" charset="-122"/>
                <a:cs typeface="Arial" pitchFamily="34" charset="-120"/>
              </a:rPr>
              <a:t>1</a:t>
            </a:r>
            <a:endParaRPr lang="en-US" sz="2500" dirty="0"/>
          </a:p>
        </p:txBody>
      </p:sp>
      <p:sp>
        <p:nvSpPr>
          <p:cNvPr id="4" name="Text 2"/>
          <p:cNvSpPr txBox="1"/>
          <p:nvPr/>
        </p:nvSpPr>
        <p:spPr>
          <a:xfrm>
            <a:off x="1325880" y="1234440"/>
            <a:ext cx="10241280" cy="822960"/>
          </a:xfrm>
          <a:prstGeom prst="rect">
            <a:avLst/>
          </a:prstGeom>
          <a:noFill/>
          <a:ln/>
        </p:spPr>
        <p:txBody>
          <a:bodyPr wrap="square" lIns="0" tIns="0" rIns="0" bIns="0" rtlCol="0" anchor="ctr"/>
          <a:lstStyle/>
          <a:p>
            <a:pPr indent="0" marL="0">
              <a:buNone/>
            </a:pPr>
            <a:r>
              <a:rPr lang="en-US" sz="2000" dirty="0">
                <a:solidFill>
                  <a:srgbClr val="000000"/>
                </a:solidFill>
              </a:rPr>
              <a:t>La prueba en casa ya distingue alumno y ataque en la misma captura, sin memorizar la IP.</a:t>
            </a:r>
            <a:endParaRPr lang="en-US" sz="2000" dirty="0"/>
          </a:p>
        </p:txBody>
      </p:sp>
      <p:sp>
        <p:nvSpPr>
          <p:cNvPr id="5" name="Text 3"/>
          <p:cNvSpPr txBox="1"/>
          <p:nvPr/>
        </p:nvSpPr>
        <p:spPr>
          <a:xfrm>
            <a:off x="502920" y="2423160"/>
            <a:ext cx="640080" cy="502920"/>
          </a:xfrm>
          <a:prstGeom prst="rect">
            <a:avLst/>
          </a:prstGeom>
          <a:noFill/>
          <a:ln/>
        </p:spPr>
        <p:txBody>
          <a:bodyPr wrap="square" lIns="0" tIns="0" rIns="0" bIns="0" rtlCol="0" anchor="ctr"/>
          <a:lstStyle/>
          <a:p>
            <a:pPr indent="0" marL="0">
              <a:buNone/>
            </a:pPr>
            <a:r>
              <a:rPr lang="en-US" sz="2500" b="1" dirty="0">
                <a:solidFill>
                  <a:schemeClr val="accent1"/>
                </a:solidFill>
                <a:latin typeface="Arial" pitchFamily="34" charset="0"/>
                <a:ea typeface="Arial" pitchFamily="34" charset="-122"/>
                <a:cs typeface="Arial" pitchFamily="34" charset="-120"/>
              </a:rPr>
              <a:t>2</a:t>
            </a:r>
            <a:endParaRPr lang="en-US" sz="2500" dirty="0"/>
          </a:p>
        </p:txBody>
      </p:sp>
      <p:sp>
        <p:nvSpPr>
          <p:cNvPr id="6" name="Text 4"/>
          <p:cNvSpPr txBox="1"/>
          <p:nvPr/>
        </p:nvSpPr>
        <p:spPr>
          <a:xfrm>
            <a:off x="1325880" y="2468880"/>
            <a:ext cx="10241280" cy="822960"/>
          </a:xfrm>
          <a:prstGeom prst="rect">
            <a:avLst/>
          </a:prstGeom>
          <a:noFill/>
          <a:ln/>
        </p:spPr>
        <p:txBody>
          <a:bodyPr wrap="square" lIns="0" tIns="0" rIns="0" bIns="0" rtlCol="0" anchor="ctr"/>
          <a:lstStyle/>
          <a:p>
            <a:pPr indent="0" marL="0">
              <a:buNone/>
            </a:pPr>
            <a:r>
              <a:rPr lang="en-US" sz="2000" dirty="0">
                <a:solidFill>
                  <a:srgbClr val="000000"/>
                </a:solidFill>
              </a:rPr>
              <a:t>El portal solo se cae con Slowloris. SYN e ICMP suben paquetes y la página sigue.</a:t>
            </a:r>
            <a:endParaRPr lang="en-US" sz="2000" dirty="0"/>
          </a:p>
        </p:txBody>
      </p:sp>
      <p:sp>
        <p:nvSpPr>
          <p:cNvPr id="7" name="Text 5"/>
          <p:cNvSpPr txBox="1"/>
          <p:nvPr/>
        </p:nvSpPr>
        <p:spPr>
          <a:xfrm>
            <a:off x="502920" y="3657600"/>
            <a:ext cx="640080" cy="502920"/>
          </a:xfrm>
          <a:prstGeom prst="rect">
            <a:avLst/>
          </a:prstGeom>
          <a:noFill/>
          <a:ln/>
        </p:spPr>
        <p:txBody>
          <a:bodyPr wrap="square" lIns="0" tIns="0" rIns="0" bIns="0" rtlCol="0" anchor="ctr"/>
          <a:lstStyle/>
          <a:p>
            <a:pPr indent="0" marL="0">
              <a:buNone/>
            </a:pPr>
            <a:r>
              <a:rPr lang="en-US" sz="2500" b="1" dirty="0">
                <a:solidFill>
                  <a:schemeClr val="accent1"/>
                </a:solidFill>
                <a:latin typeface="Arial" pitchFamily="34" charset="0"/>
                <a:ea typeface="Arial" pitchFamily="34" charset="-122"/>
                <a:cs typeface="Arial" pitchFamily="34" charset="-120"/>
              </a:rPr>
              <a:t>3</a:t>
            </a:r>
            <a:endParaRPr lang="en-US" sz="2500" dirty="0"/>
          </a:p>
        </p:txBody>
      </p:sp>
      <p:sp>
        <p:nvSpPr>
          <p:cNvPr id="8" name="Text 6"/>
          <p:cNvSpPr txBox="1"/>
          <p:nvPr/>
        </p:nvSpPr>
        <p:spPr>
          <a:xfrm>
            <a:off x="1325880" y="3703320"/>
            <a:ext cx="10241280" cy="822960"/>
          </a:xfrm>
          <a:prstGeom prst="rect">
            <a:avLst/>
          </a:prstGeom>
          <a:noFill/>
          <a:ln/>
        </p:spPr>
        <p:txBody>
          <a:bodyPr wrap="square" lIns="0" tIns="0" rIns="0" bIns="0" rtlCol="0" anchor="ctr"/>
          <a:lstStyle/>
          <a:p>
            <a:pPr indent="0" marL="0">
              <a:buNone/>
            </a:pPr>
            <a:r>
              <a:rPr lang="en-US" sz="2000" dirty="0">
                <a:solidFill>
                  <a:srgbClr val="000000"/>
                </a:solidFill>
              </a:rPr>
              <a:t>El F1 de 0,979 en Agrarias es la cifra con la que se propone el siguiente paso.</a:t>
            </a:r>
            <a:endParaRPr lang="en-US" sz="2000" dirty="0"/>
          </a:p>
        </p:txBody>
      </p:sp>
      <p:sp>
        <p:nvSpPr>
          <p:cNvPr id="9" name="Text 7"/>
          <p:cNvSpPr txBox="1"/>
          <p:nvPr/>
        </p:nvSpPr>
        <p:spPr>
          <a:xfrm>
            <a:off x="502920" y="4892040"/>
            <a:ext cx="640080" cy="502920"/>
          </a:xfrm>
          <a:prstGeom prst="rect">
            <a:avLst/>
          </a:prstGeom>
          <a:noFill/>
          <a:ln/>
        </p:spPr>
        <p:txBody>
          <a:bodyPr wrap="square" lIns="0" tIns="0" rIns="0" bIns="0" rtlCol="0" anchor="ctr"/>
          <a:lstStyle/>
          <a:p>
            <a:pPr indent="0" marL="0">
              <a:buNone/>
            </a:pPr>
            <a:r>
              <a:rPr lang="en-US" sz="2500" b="1" dirty="0">
                <a:solidFill>
                  <a:schemeClr val="accent1"/>
                </a:solidFill>
                <a:latin typeface="Arial" pitchFamily="34" charset="0"/>
                <a:ea typeface="Arial" pitchFamily="34" charset="-122"/>
                <a:cs typeface="Arial" pitchFamily="34" charset="-120"/>
              </a:rPr>
              <a:t>4</a:t>
            </a:r>
            <a:endParaRPr lang="en-US" sz="2500" dirty="0"/>
          </a:p>
        </p:txBody>
      </p:sp>
      <p:sp>
        <p:nvSpPr>
          <p:cNvPr id="10" name="Text 8"/>
          <p:cNvSpPr txBox="1"/>
          <p:nvPr/>
        </p:nvSpPr>
        <p:spPr>
          <a:xfrm>
            <a:off x="1325880" y="4937760"/>
            <a:ext cx="10241280" cy="822960"/>
          </a:xfrm>
          <a:prstGeom prst="rect">
            <a:avLst/>
          </a:prstGeom>
          <a:noFill/>
          <a:ln/>
        </p:spPr>
        <p:txBody>
          <a:bodyPr wrap="square" lIns="0" tIns="0" rIns="0" bIns="0" rtlCol="0" anchor="ctr"/>
          <a:lstStyle/>
          <a:p>
            <a:pPr indent="0" marL="0">
              <a:buNone/>
            </a:pPr>
            <a:r>
              <a:rPr lang="en-US" sz="2000" dirty="0">
                <a:solidFill>
                  <a:srgbClr val="000000"/>
                </a:solidFill>
              </a:rPr>
              <a:t>Ese paso es el escaneo autorizado. El ataque de la simulación no sale del contenedor.</a:t>
            </a:r>
            <a:endParaRPr lang="en-US" sz="20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502920" y="274320"/>
            <a:ext cx="10149840" cy="640080"/>
          </a:xfrm>
          <a:prstGeom prst="rect">
            <a:avLst/>
          </a:prstGeom>
          <a:noFill/>
          <a:ln/>
        </p:spPr>
        <p:txBody>
          <a:bodyPr wrap="square" lIns="0" tIns="0" rIns="0" bIns="0" rtlCol="0"/>
          <a:lstStyle/>
          <a:p>
            <a:pPr algn="l" indent="0" marL="0">
              <a:buNone/>
            </a:pPr>
            <a:r>
              <a:rPr lang="en-US" sz="2900" b="1" dirty="0">
                <a:solidFill>
                  <a:srgbClr val="135539"/>
                </a:solidFill>
                <a:latin typeface="Arial" pitchFamily="34" charset="0"/>
                <a:ea typeface="Arial" pitchFamily="34" charset="-122"/>
                <a:cs typeface="Arial" pitchFamily="34" charset="-120"/>
              </a:rPr>
              <a:t>Fuentes principales</a:t>
            </a:r>
            <a:endParaRPr lang="en-US" sz="2900" dirty="0"/>
          </a:p>
        </p:txBody>
      </p:sp>
      <p:sp>
        <p:nvSpPr>
          <p:cNvPr id="3" name="Text 1"/>
          <p:cNvSpPr txBox="1"/>
          <p:nvPr/>
        </p:nvSpPr>
        <p:spPr>
          <a:xfrm>
            <a:off x="502920" y="1188720"/>
            <a:ext cx="11155680" cy="384048"/>
          </a:xfrm>
          <a:prstGeom prst="rect">
            <a:avLst/>
          </a:prstGeom>
          <a:noFill/>
          <a:ln/>
        </p:spPr>
        <p:txBody>
          <a:bodyPr wrap="square" lIns="0" tIns="0" rIns="0" bIns="0" rtlCol="0" anchor="ctr"/>
          <a:lstStyle/>
          <a:p>
            <a:pPr indent="0" marL="0">
              <a:buNone/>
            </a:pPr>
            <a:r>
              <a:rPr lang="en-US" sz="1900" b="1" dirty="0">
                <a:solidFill>
                  <a:schemeClr val="accent1"/>
                </a:solidFill>
                <a:latin typeface="Arial" pitchFamily="34" charset="0"/>
                <a:ea typeface="Arial" pitchFamily="34" charset="-122"/>
                <a:cs typeface="Arial" pitchFamily="34" charset="-120"/>
              </a:rPr>
              <a:t>Kumar, S.; Gupta, S. (2026)</a:t>
            </a:r>
            <a:endParaRPr lang="en-US" sz="1900" dirty="0"/>
          </a:p>
        </p:txBody>
      </p:sp>
      <p:sp>
        <p:nvSpPr>
          <p:cNvPr id="4" name="Text 2"/>
          <p:cNvSpPr txBox="1"/>
          <p:nvPr/>
        </p:nvSpPr>
        <p:spPr>
          <a:xfrm>
            <a:off x="502920" y="1645920"/>
            <a:ext cx="11155680" cy="868680"/>
          </a:xfrm>
          <a:prstGeom prst="rect">
            <a:avLst/>
          </a:prstGeom>
          <a:noFill/>
          <a:ln/>
        </p:spPr>
        <p:txBody>
          <a:bodyPr wrap="square" lIns="0" tIns="0" rIns="0" bIns="0" rtlCol="0" anchor="ctr"/>
          <a:lstStyle/>
          <a:p>
            <a:pPr indent="0" marL="0">
              <a:buNone/>
            </a:pPr>
            <a:r>
              <a:rPr lang="en-US" sz="1700" dirty="0">
                <a:solidFill>
                  <a:srgbClr val="000000"/>
                </a:solidFill>
              </a:rPr>
              <a:t>ICMP-Flood-SDN: A Python based machine learning application for ICMP flood DDoS attack detection in software defined networks. Software Impacts 27, 100819.</a:t>
            </a:r>
            <a:endParaRPr lang="en-US" sz="1700" dirty="0"/>
          </a:p>
        </p:txBody>
      </p:sp>
      <p:sp>
        <p:nvSpPr>
          <p:cNvPr id="5" name="Text 3"/>
          <p:cNvSpPr txBox="1"/>
          <p:nvPr/>
        </p:nvSpPr>
        <p:spPr>
          <a:xfrm>
            <a:off x="502920" y="2743200"/>
            <a:ext cx="11155680" cy="384048"/>
          </a:xfrm>
          <a:prstGeom prst="rect">
            <a:avLst/>
          </a:prstGeom>
          <a:noFill/>
          <a:ln/>
        </p:spPr>
        <p:txBody>
          <a:bodyPr wrap="square" lIns="0" tIns="0" rIns="0" bIns="0" rtlCol="0" anchor="ctr"/>
          <a:lstStyle/>
          <a:p>
            <a:pPr indent="0" marL="0">
              <a:buNone/>
            </a:pPr>
            <a:r>
              <a:rPr lang="en-US" sz="1900" b="1" dirty="0">
                <a:solidFill>
                  <a:schemeClr val="accent1"/>
                </a:solidFill>
                <a:latin typeface="Arial" pitchFamily="34" charset="0"/>
                <a:ea typeface="Arial" pitchFamily="34" charset="-122"/>
                <a:cs typeface="Arial" pitchFamily="34" charset="-120"/>
              </a:rPr>
              <a:t>Sharafaldin, I.; Lashkari, A.; Ghorbani, A. (2018)</a:t>
            </a:r>
            <a:endParaRPr lang="en-US" sz="1900" dirty="0"/>
          </a:p>
        </p:txBody>
      </p:sp>
      <p:sp>
        <p:nvSpPr>
          <p:cNvPr id="6" name="Text 4"/>
          <p:cNvSpPr txBox="1"/>
          <p:nvPr/>
        </p:nvSpPr>
        <p:spPr>
          <a:xfrm>
            <a:off x="502920" y="3200400"/>
            <a:ext cx="11155680" cy="777240"/>
          </a:xfrm>
          <a:prstGeom prst="rect">
            <a:avLst/>
          </a:prstGeom>
          <a:noFill/>
          <a:ln/>
        </p:spPr>
        <p:txBody>
          <a:bodyPr wrap="square" lIns="0" tIns="0" rIns="0" bIns="0" rtlCol="0" anchor="ctr"/>
          <a:lstStyle/>
          <a:p>
            <a:pPr indent="0" marL="0">
              <a:buNone/>
            </a:pPr>
            <a:r>
              <a:rPr lang="en-US" sz="1700" dirty="0">
                <a:solidFill>
                  <a:srgbClr val="000000"/>
                </a:solidFill>
              </a:rPr>
              <a:t>Toward Generating a New Intrusion Detection Dataset and Intrusion Traffic Characterization. ICISSP. Referencia de CICFlowMeter.</a:t>
            </a:r>
            <a:endParaRPr lang="en-US" sz="1700" dirty="0"/>
          </a:p>
        </p:txBody>
      </p:sp>
      <p:sp>
        <p:nvSpPr>
          <p:cNvPr id="7" name="Text 5"/>
          <p:cNvSpPr txBox="1"/>
          <p:nvPr/>
        </p:nvSpPr>
        <p:spPr>
          <a:xfrm>
            <a:off x="502920" y="4297680"/>
            <a:ext cx="11155680" cy="384048"/>
          </a:xfrm>
          <a:prstGeom prst="rect">
            <a:avLst/>
          </a:prstGeom>
          <a:noFill/>
          <a:ln/>
        </p:spPr>
        <p:txBody>
          <a:bodyPr wrap="square" lIns="0" tIns="0" rIns="0" bIns="0" rtlCol="0" anchor="ctr"/>
          <a:lstStyle/>
          <a:p>
            <a:pPr indent="0" marL="0">
              <a:buNone/>
            </a:pPr>
            <a:r>
              <a:rPr lang="en-US" sz="1900" b="1" dirty="0">
                <a:solidFill>
                  <a:schemeClr val="accent1"/>
                </a:solidFill>
                <a:latin typeface="Arial" pitchFamily="34" charset="0"/>
                <a:ea typeface="Arial" pitchFamily="34" charset="-122"/>
                <a:cs typeface="Arial" pitchFamily="34" charset="-120"/>
              </a:rPr>
              <a:t>Kreutz, D. et al. (2015)</a:t>
            </a:r>
            <a:endParaRPr lang="en-US" sz="1900" dirty="0"/>
          </a:p>
        </p:txBody>
      </p:sp>
      <p:sp>
        <p:nvSpPr>
          <p:cNvPr id="8" name="Text 6"/>
          <p:cNvSpPr txBox="1"/>
          <p:nvPr/>
        </p:nvSpPr>
        <p:spPr>
          <a:xfrm>
            <a:off x="502920" y="4754880"/>
            <a:ext cx="11155680" cy="685800"/>
          </a:xfrm>
          <a:prstGeom prst="rect">
            <a:avLst/>
          </a:prstGeom>
          <a:noFill/>
          <a:ln/>
        </p:spPr>
        <p:txBody>
          <a:bodyPr wrap="square" lIns="0" tIns="0" rIns="0" bIns="0" rtlCol="0" anchor="ctr"/>
          <a:lstStyle/>
          <a:p>
            <a:pPr indent="0" marL="0">
              <a:buNone/>
            </a:pPr>
            <a:r>
              <a:rPr lang="en-US" sz="1700" dirty="0">
                <a:solidFill>
                  <a:srgbClr val="000000"/>
                </a:solidFill>
              </a:rPr>
              <a:t>Software-Defined Networking: A Comprehensive Survey. Proceedings of the IEEE 103(1), 14–76.</a:t>
            </a:r>
            <a:endParaRPr lang="en-US" sz="1700" dirty="0"/>
          </a:p>
        </p:txBody>
      </p:sp>
      <p:sp>
        <p:nvSpPr>
          <p:cNvPr id="9" name="Text 7"/>
          <p:cNvSpPr txBox="1"/>
          <p:nvPr/>
        </p:nvSpPr>
        <p:spPr>
          <a:xfrm>
            <a:off x="502920" y="5715000"/>
            <a:ext cx="11155680" cy="365760"/>
          </a:xfrm>
          <a:prstGeom prst="rect">
            <a:avLst/>
          </a:prstGeom>
          <a:noFill/>
          <a:ln/>
        </p:spPr>
        <p:txBody>
          <a:bodyPr wrap="square" lIns="0" tIns="0" rIns="0" bIns="0" rtlCol="0" anchor="ctr"/>
          <a:lstStyle/>
          <a:p>
            <a:pPr indent="0" marL="0">
              <a:buNone/>
            </a:pPr>
            <a:r>
              <a:rPr lang="en-US" sz="1600" dirty="0">
                <a:solidFill>
                  <a:srgbClr val="3E5C4C"/>
                </a:solidFill>
              </a:rPr>
              <a:t>Código, protocolo y resultados: repositorio Campus-DDoS-SDN.</a:t>
            </a:r>
            <a:endParaRPr lang="en-US" sz="1600" dirty="0"/>
          </a:p>
        </p:txBody>
      </p:sp>
      <p:sp>
        <p:nvSpPr>
          <p:cNvPr id="25" name="Slide Number Placeholder 0"/>
          <p:cNvSpPr>
            <a:spLocks noGrp="1"/>
          </p:cNvSpPr>
          <p:nvPr>
            <p:ph type="sldNum" sz="quarter" idx="4294967295"/>
          </p:nvPr>
        </p:nvSpPr>
        <p:spPr>
          <a:xfrm>
            <a:off x="11292840" y="6473952"/>
            <a:ext cx="45720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C6B62"/>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Users/alessandro/Project/UNCP/sdn-ddos-multiclass-detection/expo/img/escudo-uncp.png">    </p:cNvPr>
          <p:cNvPicPr>
            <a:picLocks noChangeAspect="1"/>
          </p:cNvPicPr>
          <p:nvPr/>
        </p:nvPicPr>
        <p:blipFill>
          <a:blip r:embed="rId1"/>
          <a:stretch>
            <a:fillRect/>
          </a:stretch>
        </p:blipFill>
        <p:spPr>
          <a:xfrm>
            <a:off x="548640" y="411480"/>
            <a:ext cx="822960" cy="704088"/>
          </a:xfrm>
          <a:prstGeom prst="rect">
            <a:avLst/>
          </a:prstGeom>
        </p:spPr>
      </p:pic>
      <p:sp>
        <p:nvSpPr>
          <p:cNvPr id="3" name="Text 0"/>
          <p:cNvSpPr/>
          <p:nvPr>
            <p:ph idx="100" type="title" hasCustomPrompt="1"/>
          </p:nvPr>
        </p:nvSpPr>
        <p:spPr>
          <a:xfrm>
            <a:off x="548640" y="4069080"/>
            <a:ext cx="10972800" cy="777240"/>
          </a:xfrm>
          <a:prstGeom prst="rect">
            <a:avLst/>
          </a:prstGeom>
          <a:noFill/>
          <a:ln/>
        </p:spPr>
        <p:txBody>
          <a:bodyPr wrap="square" lIns="0" tIns="0" rIns="0" bIns="0" rtlCol="0"/>
          <a:lstStyle/>
          <a:p>
            <a:pPr algn="l" indent="0" marL="0">
              <a:buNone/>
            </a:pPr>
            <a:r>
              <a:rPr lang="en-US" sz="3200" b="1" dirty="0">
                <a:solidFill>
                  <a:srgbClr val="FFFFFF"/>
                </a:solidFill>
                <a:latin typeface="Arial" pitchFamily="34" charset="0"/>
                <a:ea typeface="Arial" pitchFamily="34" charset="-122"/>
                <a:cs typeface="Arial" pitchFamily="34" charset="-120"/>
              </a:rPr>
              <a:t>Resultados preliminares y siguiente fase</a:t>
            </a:r>
            <a:endParaRPr lang="en-US" sz="3200" dirty="0"/>
          </a:p>
        </p:txBody>
      </p:sp>
      <p:sp>
        <p:nvSpPr>
          <p:cNvPr id="4" name="Text 0"/>
          <p:cNvSpPr/>
          <p:nvPr>
            <p:ph idx="101" type="body" hasCustomPrompt="1"/>
          </p:nvPr>
        </p:nvSpPr>
        <p:spPr>
          <a:xfrm>
            <a:off x="548640" y="4983480"/>
            <a:ext cx="10241280" cy="1097280"/>
          </a:xfrm>
          <a:prstGeom prst="rect">
            <a:avLst/>
          </a:prstGeom>
          <a:noFill/>
          <a:ln/>
        </p:spPr>
        <p:txBody>
          <a:bodyPr wrap="square" lIns="0" tIns="0" rIns="0" bIns="0" rtlCol="0"/>
          <a:lstStyle/>
          <a:p>
            <a:pPr indent="0" marL="0">
              <a:buNone/>
            </a:pPr>
            <a:r>
              <a:rPr lang="en-US" sz="1800" dirty="0">
                <a:solidFill>
                  <a:srgbClr val="E7F0EA"/>
                </a:solidFill>
                <a:latin typeface="Calibri" pitchFamily="34" charset="0"/>
                <a:ea typeface="Calibri" pitchFamily="34" charset="-122"/>
                <a:cs typeface="Calibri" pitchFamily="34" charset="-120"/>
              </a:rPr>
              <a:t>Prueba en casa hecha. Escaneo del campus, por autorizar.</a:t>
            </a:r>
            <a:endParaRPr lang="en-US" sz="1800" dirty="0"/>
          </a:p>
          <a:p>
            <a:pPr indent="0" marL="0">
              <a:buNone/>
            </a:pPr>
            <a:r>
              <a:rPr lang="en-US" sz="1800" dirty="0">
                <a:solidFill>
                  <a:srgbClr val="E7F0EA"/>
                </a:solidFill>
                <a:latin typeface="Calibri" pitchFamily="34" charset="0"/>
                <a:ea typeface="Calibri" pitchFamily="34" charset="-122"/>
                <a:cs typeface="Calibri" pitchFamily="34" charset="-120"/>
              </a:rPr>
              <a:t>Calderón  ·  Llanos  ·  Martínez  ·  Poves</a:t>
            </a:r>
            <a:endParaRPr lang="en-US" sz="1800" dirty="0"/>
          </a:p>
        </p:txBody>
      </p:sp>
    </p:spTree>
  </p:cSld>
  <p:clrMapOvr>
    <a:masterClrMapping/>
  </p:clrMapOvr>
</p:sld>
</file>

<file path=ppt/theme/theme1.xml><?xml version="1.0" encoding="utf-8"?>
<a:theme xmlns:a="http://schemas.openxmlformats.org/drawingml/2006/main" name="UNCP FIS">
  <a:themeElements>
    <a:clrScheme name="UNCP FIS">
      <a:dk1>
        <a:srgbClr val="12261C"/>
      </a:dk1>
      <a:lt1>
        <a:srgbClr val="FFFFFF"/>
      </a:lt1>
      <a:dk2>
        <a:srgbClr val="135539"/>
      </a:dk2>
      <a:lt2>
        <a:srgbClr val="E7F0EA"/>
      </a:lt2>
      <a:accent1>
        <a:srgbClr val="135539"/>
      </a:accent1>
      <a:accent2>
        <a:srgbClr val="C6A15B"/>
      </a:accent2>
      <a:accent3>
        <a:srgbClr val="1B4D38"/>
      </a:accent3>
      <a:accent4>
        <a:srgbClr val="8C2F2F"/>
      </a:accent4>
      <a:accent5>
        <a:srgbClr val="3E5C4C"/>
      </a:accent5>
      <a:accent6>
        <a:srgbClr val="F4F7F5"/>
      </a:accent6>
      <a:hlink>
        <a:srgbClr val="135539"/>
      </a:hlink>
      <a:folHlink>
        <a:srgbClr val="0E3324"/>
      </a:folHlink>
    </a:clrScheme>
    <a:fontScheme name="UNCP F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 un solo ataque a un campus</dc:title>
  <dc:subject>Exposicion del banco de pruebas Campus-DDoS-SDN</dc:subject>
  <dc:creator>Facultad de Ingenieria de Sistemas, UNCP</dc:creator>
  <cp:lastModifiedBy>Facultad de Ingenieria de Sistemas, UNCP</cp:lastModifiedBy>
  <cp:revision>1</cp:revision>
  <dcterms:created xsi:type="dcterms:W3CDTF">2026-10-15T18:05:25Z</dcterms:created>
  <dcterms:modified xsi:type="dcterms:W3CDTF">2026-10-15T18:05:25Z</dcterms:modified>
</cp:coreProperties>
</file>